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Regulated Enterprises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Adopt AI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1463040" cy="3657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480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perspective on the adoption curve, tooling gaps, and what the sovereign stack needs to look like.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Informing our build / buy / partner decisions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thesis in one page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141732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Regulated enterprises will adopt AI in waves — 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general-purpose AI at the periphery to sovereign AI at the core. 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wave exposes tooling gaps that today's hyperscaler and SaaS stacks cannot close. </a:t>
            </a:r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Whoever owns the sovereign control plane owns the category.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200400"/>
            <a:ext cx="356616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curve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move inward by sensitivity. Productivity AI first; regulated, differentiating workloads last — but that's where the value 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320040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3200400"/>
            <a:ext cx="356616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gaps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0" y="4480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sovereign stack is missing connective tissue: governance, guardrails, observability, and orchestration that live inside the boundary.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320040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3200400"/>
            <a:ext cx="356616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2104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play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21040" y="4480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sovereign AI control plane is a new category. Arda's wedge is the glue — not the model, not the hardware.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regulated AI stack has three tiers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land in different tiers based on data sensitivity, regulatory exposure, and competitive value. The boundary between tiers is hardening — not softening.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3566160" cy="3886200"/>
          </a:xfrm>
          <a:prstGeom prst="rect">
            <a:avLst/>
          </a:prstGeom>
          <a:solidFill>
            <a:srgbClr val="2E4C78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Hyperscaler Layer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 GCP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611880"/>
            <a:ext cx="457200" cy="274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4904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compute, managed services, burst capacity. Non-sensitive workloads, dev/test, general APIs.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303520"/>
            <a:ext cx="228600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303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Sovereign-located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057400"/>
            <a:ext cx="3566160" cy="388620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General-Purpose AI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Copilot, frontier APIs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11880"/>
            <a:ext cx="457200" cy="274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74904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AI, document drafting, code assist. Fast ROI, low data sensitivity, vendor-controlled models.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5303520"/>
            <a:ext cx="228600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5303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Sovereign-located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2057400"/>
            <a:ext cx="3566160" cy="388620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AI Layer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2104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 / on-prem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21040" y="3611880"/>
            <a:ext cx="457200" cy="274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74904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open models on regulated data. Full control over data, model weights, platform and people.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21040" y="5303520"/>
            <a:ext cx="2286000" cy="3474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5303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Sovereign-controlled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1064240" cy="59436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7607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vendors sell into the top two tiers. The sovereign tier is the one with the hardest requirements — and the weakest tooling.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CURVE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horizons of adoption (12–36 months)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enterprises don't jump to sovereign AI in one step. They move workloads inward as confidence, tooling, and regulatory clarity improve.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10698480" cy="73152"/>
          </a:xfrm>
          <a:prstGeom prst="rect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780" y="1965960"/>
            <a:ext cx="36118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5780" y="1965960"/>
            <a:ext cx="109728" cy="2743200"/>
          </a:xfrm>
          <a:prstGeom prst="rect">
            <a:avLst/>
          </a:prstGeom>
          <a:solidFill>
            <a:srgbClr val="2E4C78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820" y="21488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C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3162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12 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582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 &amp; Copilot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5820" y="31089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Copilot, email, code assist, doc summarisation. Data leaves the boundary. Accepted because the value feels low-risk.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58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</a:rPr>
              <a:t>Risk surface: </a:t>
            </a:r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Shadow IT + IP leakage begins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21992" y="4663440"/>
            <a:ext cx="228600" cy="228600"/>
          </a:xfrm>
          <a:prstGeom prst="ellipse">
            <a:avLst/>
          </a:prstGeom>
          <a:solidFill>
            <a:srgbClr val="2E4C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4820" y="1965960"/>
            <a:ext cx="36118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74820" y="1965960"/>
            <a:ext cx="109728" cy="274320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4860" y="21488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8066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18 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9486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RAG &amp; Agents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94860" y="31089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agents, workflow automation, internal search. Starts touching real business data.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9486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</a:rPr>
              <a:t>Risk surface: </a:t>
            </a:r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Auditability + action-taking risk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71032" y="4663440"/>
            <a:ext cx="228600" cy="228600"/>
          </a:xfrm>
          <a:prstGeom prst="ellipse">
            <a:avLst/>
          </a:prstGeom>
          <a:solidFill>
            <a:srgbClr val="1630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23860" y="1965960"/>
            <a:ext cx="36118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23860" y="1965960"/>
            <a:ext cx="109728" cy="274320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3900" y="21488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2970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– 36 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4390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Fine-tuned Models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43900" y="31089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models trained on regulated data. Claims, underwriting, fraud, advice. Differentiating — and irreversible.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390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</a:rPr>
              <a:t>Risk surface: </a:t>
            </a:r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Full regulatory + fiduciary exposure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720072" y="4663440"/>
            <a:ext cx="228600" cy="228600"/>
          </a:xfrm>
          <a:prstGeom prst="ellipse">
            <a:avLst/>
          </a:prstGeom>
          <a:solidFill>
            <a:srgbClr val="0A1F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sensitivity  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Differentiation &amp; value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GAPS EXPOSED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breaks at each horizon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wave of adoption exposes a specific gap. The gaps compound — and none of them are solved by the existing hyperscaler AI stack.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123444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868680" cy="12344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00200" y="21488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Shadow IT &amp; prompt leakage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2514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paste sensitive data into consumer AI. No logging, no DLP, no retention control. CISO finds out after the fact.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29260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</a:rPr>
              <a:t>Gap: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Boundary DLP  |  prompt audit  |  sanctioned gateways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123444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29000"/>
            <a:ext cx="868680" cy="12344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29000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00200" y="3566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Ungoverned agents &amp; RAG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00200" y="3931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start taking actions. RAG pipelines pull from stale or over-permissioned data stores. No traceability from answer to source.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0200" y="43434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</a:rPr>
              <a:t>Gap: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Access-aware RAG  |  agent guardrails  |  lineage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64240" cy="123444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846320"/>
            <a:ext cx="868680" cy="12344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46320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600200" y="4983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on regulated data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00200" y="5349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member / patient / citizen data. No end-to-end in-boundary training, eval, and deployment stack. Regulator asks, “prove it.”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00200" y="5760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</a:rPr>
              <a:t>Gap: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In-boundary training  |  model registry  |  evidence chain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sovereign tooling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needs to run inside the customer's security boundary — or plug into it without leaking data across it. This is where the category fight will happen.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206240"/>
          </a:xfrm>
          <a:prstGeom prst="rect">
            <a:avLst/>
          </a:prstGeom>
          <a:solidFill>
            <a:srgbClr val="E8EEF7"/>
          </a:solidFill>
          <a:ln w="25400">
            <a:solidFill>
              <a:srgbClr val="0A1F3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1755648"/>
            <a:ext cx="3200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SECURITY BOUNDARY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248031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31720"/>
            <a:ext cx="248031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3288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Access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21145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IdP, RBAC, attribute-based policy for agents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86150" y="2331720"/>
            <a:ext cx="248031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6150" y="2331720"/>
            <a:ext cx="248031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9030" y="253288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 &amp; Pipelines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69030" y="3108960"/>
            <a:ext cx="21145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labelling, embedding, access-aware RAG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5060" y="2331720"/>
            <a:ext cx="248031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5060" y="2331720"/>
            <a:ext cx="248031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7940" y="253288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Serving &amp; Tune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7940" y="3108960"/>
            <a:ext cx="21145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hosting, fine-tune, eval, registry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03970" y="2331720"/>
            <a:ext cx="248031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03970" y="2331720"/>
            <a:ext cx="248031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86850" y="253288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&amp; Safety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86850" y="3108960"/>
            <a:ext cx="21145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toxicity, jailbreak, policy enforcement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4229100"/>
            <a:ext cx="248031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229100"/>
            <a:ext cx="248031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43026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Orchestration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5006340"/>
            <a:ext cx="21145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use, workflows, human-in-loop, MCP bridges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86150" y="4229100"/>
            <a:ext cx="248031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4229100"/>
            <a:ext cx="248031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69030" y="443026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&amp; Eval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69030" y="5006340"/>
            <a:ext cx="21145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cost, quality, drift, A/B testing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95060" y="4229100"/>
            <a:ext cx="248031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5060" y="4229100"/>
            <a:ext cx="248031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7940" y="443026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Audit, Lineage &amp; Evidence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77940" y="5006340"/>
            <a:ext cx="21145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logs, model cards, reg-ready evidence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903970" y="4229100"/>
            <a:ext cx="248031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03970" y="4229100"/>
            <a:ext cx="248031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86850" y="443026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Plane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86850" y="5006340"/>
            <a:ext cx="21145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tenancy, secrets, SBOMs, change control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compute — private cloud, on-prem GPU, or sovereign-cleared IaaS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 (1 OF 2)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deep dive — data, models, guardrails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749040"/>
                <a:gridCol w="3291840"/>
                <a:gridCol w="182880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vendors / 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readiness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 &amp;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Ingest, clean, chunk, embed, access-control the retrieval layer.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Unstructured, LlamaIndex, Snorkel, Weaviate, Qdrant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OSS — deployable in-boundary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serving &amp; fine-tune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open-weight models, LoRA / full fine-tune, quantisation, routing.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vLLM, TGI, Ollama, Hugging Face, Modal, Together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strong; commercial ops tooling thin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&amp;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PII, toxicity, jailbreak, policy DSLs, output filtering.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 Guardrails, Guardrails AI, Lakera, Protect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— many SaaS-only; in-boundary is rare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&amp; red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evals, regression tests, adversarial probes, drift checks.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Promptfoo, Ragas, Inspect (UK AISI), Haize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Early; almost all assume 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models are increasingly commoditised. Guardrails and eval are the layers where a sovereign product must be opinionated — and where most vendors are not.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 (2 OF 2)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deep dive — agents, ops, audit, control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749040"/>
                <a:gridCol w="3291840"/>
                <a:gridCol w="182880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vendors / 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readiness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use, workflows, human-in-loop, MCP servers, long-running jobs.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LangGraph, CrewAI, Temporal, Anthropic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deployable; enterprise patterns still forming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 &amp;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Traces, prompts, token cost, quality scoring, drift, dashboards.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Langfuse, Arize, WhyLabs, W&amp;B Weave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is in-boundary; others mostly 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Audit, lineage,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logs, model cards, data lineage, regulator-ready evidence.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Credo AI, Holistic AI, OpenLineage, MLflow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white space for regulated markets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plane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Policy, tenancy, secrets, change control, model registry, SBOMs.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Internal/custom today; fragments from Vault, OPA, MLflow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serious incumbent — our wedge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+ audit/evidence are the white space. This is where a sovereign product can lead the category — everything else is a collaboration surface.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 FOR THE SOVEREIGN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regulated enterprises will demand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requirements we hear from CISOs, regulators, and the FAR / CPS 230 / Privacy Act accountability regimes. Any product that can't meet them is disqualified by the procurement team.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73152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756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In-boundary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customer's VPC, on-prem, or sovereign-cleared cloud. No phone-home.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40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965960"/>
            <a:ext cx="73152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756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agnostic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or commercial; swap without re-platforming. No lock-in to a single lab.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440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108960"/>
            <a:ext cx="73152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186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auditability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520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retrieval, tool call, model version, policy check — all logged, immutable, queryable.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108960"/>
            <a:ext cx="5440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108960"/>
            <a:ext cx="73152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2186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Identity-integrated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520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existing IdP and RBAC. Agents inherit user permissions. No new trust boundaries.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5440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51960"/>
            <a:ext cx="73152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616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as code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663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approval flows, data handling rules expressed in versioned policy. Reviewable by risk + legal.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4251960"/>
            <a:ext cx="5440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4251960"/>
            <a:ext cx="73152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3616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on demand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4663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regulator-ready evidence (CPS 234, FAR, EU AI Act) in hours, not months.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5440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394960"/>
            <a:ext cx="73152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5046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Accredited operations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806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by cleared personnel. Change control, SBOM, vulnerability management at FSI standard.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5394960"/>
            <a:ext cx="5440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5394960"/>
            <a:ext cx="73152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55046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predictability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0" y="5806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or capacity-based pricing. No per-token surprises that break the board case.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Build, buy, or partner — a decision framework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answer depends on two things: how differentiating the capability is, and how mature the market already is. Plot each tooling layer on these two axes.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4114800"/>
            <a:ext cx="3200400" cy="2103120"/>
          </a:xfrm>
          <a:prstGeom prst="rect">
            <a:avLst/>
          </a:prstGeom>
          <a:solidFill>
            <a:srgbClr val="DDE7F2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4114800"/>
            <a:ext cx="3200400" cy="2103120"/>
          </a:xfrm>
          <a:prstGeom prst="rect">
            <a:avLst/>
          </a:prstGeom>
          <a:solidFill>
            <a:srgbClr val="F8E1D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11680"/>
            <a:ext cx="3200400" cy="2103120"/>
          </a:xfrm>
          <a:prstGeom prst="rect">
            <a:avLst/>
          </a:prstGeom>
          <a:solidFill>
            <a:srgbClr val="EDF3E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2011680"/>
            <a:ext cx="3200400" cy="2103120"/>
          </a:xfrm>
          <a:prstGeom prst="rect">
            <a:avLst/>
          </a:prstGeom>
          <a:solidFill>
            <a:srgbClr val="0A1F3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4251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C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4617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Commodity, mature market.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plug in, don't re-invent.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4251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4617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+ strategic.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integration, revenue share.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/ BUY LATER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514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Immature but non-strategic.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stub now, re-evaluate.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2514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+ immature.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wedge — own it.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6309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Market maturity 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 rot="16200000">
            <a:off x="4572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Strategic differentiation 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each layer lands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0" y="2514600"/>
            <a:ext cx="3840480" cy="73152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2514600"/>
            <a:ext cx="91440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75320" y="2862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plane, evidence/audit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3383280"/>
            <a:ext cx="3840480" cy="73152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383280"/>
            <a:ext cx="91440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75320" y="3730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observability, eval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251960"/>
            <a:ext cx="3840480" cy="73152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4251960"/>
            <a:ext cx="91440" cy="731520"/>
          </a:xfrm>
          <a:prstGeom prst="rect">
            <a:avLst/>
          </a:prstGeom>
          <a:solidFill>
            <a:srgbClr val="2E4C78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4325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C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75320" y="4599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prep, vector DB, serving runtime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0" y="5120640"/>
            <a:ext cx="3840480" cy="73152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5120640"/>
            <a:ext cx="91440" cy="7315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75320" y="5468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orchestration, MCP tooling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Arda's wedge — own the control plane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fight is not for who hosts the model. It's for who governs the end-to-end system inside the regulated boundary. That's our wedge.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" y="1965960"/>
            <a:ext cx="36118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0060" y="1965960"/>
            <a:ext cx="361188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" y="1965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4380" y="278892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control plane — policy, tenancy, secrets, change control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engine — regulator-ready audit + lineage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tool permission model tied to enterprise IdP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8660" y="5212080"/>
            <a:ext cx="3154680" cy="27432"/>
          </a:xfrm>
          <a:prstGeom prst="rect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" y="5349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IP. Deep, opinionated, regulated-first.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4820" y="1965960"/>
            <a:ext cx="36118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4820" y="1965960"/>
            <a:ext cx="361188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9140" y="1965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49140" y="278892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(NeMo Guardrails / Guardrails AI / Lakera)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(Langfuse / Arize)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&amp; red team (Promptfoo / Inspect / Haize)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03420" y="5212080"/>
            <a:ext cx="3154680" cy="27432"/>
          </a:xfrm>
          <a:prstGeom prst="rect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9140" y="5349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 + joint GTM. Own the contract, share the value.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9580" y="1965960"/>
            <a:ext cx="36118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69580" y="1965960"/>
            <a:ext cx="3611880" cy="594360"/>
          </a:xfrm>
          <a:prstGeom prst="rect">
            <a:avLst/>
          </a:prstGeom>
          <a:solidFill>
            <a:srgbClr val="2E4C78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3900" y="1965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/ EMBED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43900" y="278892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runtime (vLLM, TGI, Ollama)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(Qdrant, Weaviate)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&amp; ingestion (Unstructured, LlamaIndex)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98180" y="5212080"/>
            <a:ext cx="3154680" cy="27432"/>
          </a:xfrm>
          <a:prstGeom prst="rect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43900" y="5349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4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Commodity. Open source. Keep optionality — never lock in.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Arda today — the V1 surface area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Engineering's genesis is the Sovereign Platform. What ships today is the platform plus four surfaces. Question: is this the right shape to sell into the first 10 clients?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937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PLATFORM (the genesis)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In-boundary model serving, identity, policy, logging, secrets, tenancy — the foundation everything else plugs into.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" y="201168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" y="2011680"/>
            <a:ext cx="2697480" cy="73152"/>
          </a:xfrm>
          <a:prstGeom prst="rect">
            <a:avLst/>
          </a:prstGeom>
          <a:solidFill>
            <a:srgbClr val="2E4C78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SURFACE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866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8660" y="3063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UI over sovereign models. Generic assistant experience.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8660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</a:rPr>
              <a:t>Serves: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Any user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4700" y="201168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4700" y="2011680"/>
            <a:ext cx="2697480" cy="73152"/>
          </a:xfrm>
          <a:prstGeom prst="rect">
            <a:avLst/>
          </a:prstGeom>
          <a:solidFill>
            <a:srgbClr val="2E4C78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330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SURFACE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4330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543300" y="3063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coding assistant over sovereign endpoints.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43300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</a:rPr>
              <a:t>Serves: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Engineers only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9340" y="201168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49340" y="2011680"/>
            <a:ext cx="2697480" cy="73152"/>
          </a:xfrm>
          <a:prstGeom prst="rect">
            <a:avLst/>
          </a:prstGeom>
          <a:solidFill>
            <a:srgbClr val="2E4C78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794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SURFACE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7794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77940" y="3063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prompts, cost, quality monitoring.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77940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</a:rPr>
              <a:t>Serves: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Admins / devs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83980" y="201168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83980" y="2011680"/>
            <a:ext cx="2697480" cy="73152"/>
          </a:xfrm>
          <a:prstGeom prst="rect">
            <a:avLst/>
          </a:prstGeom>
          <a:solidFill>
            <a:srgbClr val="2E4C78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1258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SURFACE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21258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Endpoint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212580" y="3063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for internal apps &amp; integrations.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12580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</a:rPr>
              <a:t>Serves: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Developers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current surfaces serve devs and admins. Only Chat touches the “regular” end user — and its use case is under-defined.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'REGULAR' USERS NEED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end-user tooling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of slide 6, but for the humans doing the work. A sovereign platform with only dev/admin tooling leaves the end-user experience to the hyperscalers — which sends sensitive work straight back to ChatGPT.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4114800"/>
          </a:xfrm>
          <a:prstGeom prst="rect">
            <a:avLst/>
          </a:prstGeom>
          <a:solidFill>
            <a:srgbClr val="E8EEF7"/>
          </a:solidFill>
          <a:ln w="25400">
            <a:solidFill>
              <a:srgbClr val="0A1F3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1847088"/>
            <a:ext cx="3200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SECURITY BOUNDARY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2480310" cy="16230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423160"/>
            <a:ext cx="248031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62432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Chat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200400"/>
            <a:ext cx="21145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scratchpad for sensitive, ad-hoc queries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86150" y="2423160"/>
            <a:ext cx="2480310" cy="16230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6150" y="2423160"/>
            <a:ext cx="248031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9030" y="262432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Assistant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69030" y="3200400"/>
            <a:ext cx="21145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internal docs with citations &amp; permissions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5060" y="2423160"/>
            <a:ext cx="2480310" cy="16230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5060" y="2423160"/>
            <a:ext cx="248031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7940" y="262432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Embedded Sidecars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7940" y="3200400"/>
            <a:ext cx="21145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Outlook, Teams, Word, Slack, CRM, ServiceNow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03970" y="2423160"/>
            <a:ext cx="2480310" cy="16230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03970" y="2423160"/>
            <a:ext cx="248031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86850" y="262432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&amp; Agent Library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86850" y="3200400"/>
            <a:ext cx="21145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approved agents for specific workflows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4274820"/>
            <a:ext cx="2480310" cy="16230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274820"/>
            <a:ext cx="248031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47598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Workspace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5052060"/>
            <a:ext cx="21145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review, redline, co-edit with AI assist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86150" y="4274820"/>
            <a:ext cx="2480310" cy="16230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4274820"/>
            <a:ext cx="248031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69030" y="447598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&amp; Template Hub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69030" y="5052060"/>
            <a:ext cx="21145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recipes; versioned, reviewed, shared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95060" y="4274820"/>
            <a:ext cx="2480310" cy="16230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5060" y="4274820"/>
            <a:ext cx="248031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7940" y="447598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&amp; HITL Queue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77940" y="5052060"/>
            <a:ext cx="21145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 for high-sensitivity outputs &amp; actions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903970" y="4274820"/>
            <a:ext cx="2480310" cy="16230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03970" y="4274820"/>
            <a:ext cx="248031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86850" y="4475988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&amp; Flagging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86850" y="5052060"/>
            <a:ext cx="21145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/ flag UI feeding evals + audit trail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sit above the dev/admin stack (slide 6) and inherit policy, identity and audit from the control plane.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MARKET USES WHEN DATA SECURITY ISN'T THE CONSTRAINT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AI surface landscape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surfaces where enterprise work is already happening with AI. Listed regardless of data-sensitivity fit — this is the market Arda is competing with, not copying.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63190" cy="12496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54864" cy="124968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21408"/>
            <a:ext cx="2388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Chat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450592"/>
            <a:ext cx="238887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Claude · Gemini · Perplexity · Le Chat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48990" y="2011680"/>
            <a:ext cx="2663190" cy="12496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48990" y="2011680"/>
            <a:ext cx="54864" cy="124968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1870" y="2121408"/>
            <a:ext cx="2388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Assistant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31870" y="2450592"/>
            <a:ext cx="238887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· Cursor · Claude Code · Windsurf · Cody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49340" y="2011680"/>
            <a:ext cx="2663190" cy="12496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9340" y="2011680"/>
            <a:ext cx="54864" cy="124968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2220" y="2121408"/>
            <a:ext cx="2388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&amp; Search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32220" y="2450592"/>
            <a:ext cx="238887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 · Dust · Moveworks · Notion AI · Guru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49690" y="2011680"/>
            <a:ext cx="2663190" cy="12496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49690" y="2011680"/>
            <a:ext cx="54864" cy="124968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32570" y="2121408"/>
            <a:ext cx="2388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Copilot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32570" y="2450592"/>
            <a:ext cx="238887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· Gemini for Workspace · Grammarly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398520"/>
            <a:ext cx="2663190" cy="12496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398520"/>
            <a:ext cx="54864" cy="124968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508248"/>
            <a:ext cx="2388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&amp; Voice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3837432"/>
            <a:ext cx="238887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Granola · Fireflies · Otter · Fathom · Gong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48990" y="3398520"/>
            <a:ext cx="2663190" cy="12496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48990" y="3398520"/>
            <a:ext cx="54864" cy="124968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31870" y="3508248"/>
            <a:ext cx="2388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&amp; Content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31870" y="3837432"/>
            <a:ext cx="238887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 · Writer · Copy.ai · Lex · Sudowrite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9340" y="3398520"/>
            <a:ext cx="2663190" cy="12496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9340" y="3398520"/>
            <a:ext cx="54864" cy="124968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2220" y="3508248"/>
            <a:ext cx="2388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Support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32220" y="3837432"/>
            <a:ext cx="238887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Decagon · Sierra · Intercom Fin · Ada · Zendesk AI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949690" y="3398520"/>
            <a:ext cx="2663190" cy="12496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49690" y="3398520"/>
            <a:ext cx="54864" cy="124968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32570" y="3508248"/>
            <a:ext cx="2388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Execution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32570" y="3837432"/>
            <a:ext cx="238887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· Gong · Apollo · 11x · Outreach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4785360"/>
            <a:ext cx="2663190" cy="12496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785360"/>
            <a:ext cx="54864" cy="124968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895088"/>
            <a:ext cx="2388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Analytics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1520" y="5224272"/>
            <a:ext cx="238887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Julius · Hex Magic · ThoughtSpot Sage · Tableau Pulse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48990" y="4785360"/>
            <a:ext cx="2663190" cy="12496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48990" y="4785360"/>
            <a:ext cx="54864" cy="124968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31870" y="4895088"/>
            <a:ext cx="2388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Creative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531870" y="5224272"/>
            <a:ext cx="238887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AI · Canva · Firefly · Midjourney · Runway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49340" y="4785360"/>
            <a:ext cx="2663190" cy="12496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49340" y="4785360"/>
            <a:ext cx="54864" cy="124968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2220" y="4895088"/>
            <a:ext cx="2388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&amp; Workflow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332220" y="5224272"/>
            <a:ext cx="238887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Lindy · Devin · Relevance AI · Adept · n8n AI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949690" y="4785360"/>
            <a:ext cx="2663190" cy="12496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49690" y="4785360"/>
            <a:ext cx="54864" cy="1249680"/>
          </a:xfrm>
          <a:prstGeom prst="rect">
            <a:avLst/>
          </a:prstGeom>
          <a:solidFill>
            <a:srgbClr val="16305C"/>
          </a:solidFill>
          <a:ln w="12700">
            <a:solidFill>
              <a:srgbClr val="1630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32570" y="4895088"/>
            <a:ext cx="23888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Research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132570" y="5224272"/>
            <a:ext cx="238887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DR · Perplexity · Elicit · Consensus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reality: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categories has a public-SaaS leader. For regulated enterprises the question isn't 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use — it's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can come inside the boundary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12 CATEGORIES, SORTED BY SOVEREIGN-READINESS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surfaces must come inside the boundary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regulated enterprise, not every surface needs to be sovereign. Arda's opportunity is the left column — everything else can be partnered, deferred, or left to public SaaS.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65960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65960"/>
            <a:ext cx="374904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BE SOVEREIGN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data, IP, or decisioning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Assistant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= IP + regulated systems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&amp; 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member files, internal docs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Analytics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datasets, PII, fin data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4251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Chat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queries need sanctioning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Support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by definition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5349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Copilot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on sensitive content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1965960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06240" y="1965960"/>
            <a:ext cx="37490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1965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056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use case &amp; data touched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8056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&amp; Voice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yes; external calls maybe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8056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Execution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3931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public; deal data internal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80560" y="4800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&amp; Workflow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80560" y="5029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with systems touched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92440" y="1965960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92440" y="1965960"/>
            <a:ext cx="374904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1965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SAAS OK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676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Low-sensitivity, brand / external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6676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Creative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6676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assets, marketing imagery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36676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&amp; Content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66760" y="3931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copy, blog, general text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366760" y="4800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Research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66760" y="5029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Public-source synthesis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for Arda V1: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Energy is buying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 — the #1 'must be sovereign' category. That's the beachhead. Knowledge, Chat and Office Copilot follow.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 THE DEFAULT UX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Chat really earn its place?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is the default AI UX because ChatGPT made it so — not because it's the best way to do most enterprise work. In a sovereign context, Chat earns its place in narrow, high-value situations.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4068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544068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57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CHAT WINS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High-sensitivity scratchpad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04495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can't paste this claims file into ChatGPT.” The only sanctioned place to ask an unstructured question about regulated data.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5021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Exploration &amp; synthesis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581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discovery, open-ended drafting where the task doesn't fit a template.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2153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users &amp; analysts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47141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want flexibility, iteration and control over context.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92861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 path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846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task/agent fails or the user needs something off-script.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2057400"/>
            <a:ext cx="544068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057400"/>
            <a:ext cx="544068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057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CHAT LOSES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Repeatable tasks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304495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agent beats a blank text box every time. Users want “summarise this claim”, not “what would you like to ask?”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35021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inside another app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7581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work happens in Outlook / Teams / the CRM, the AI must show up there. Context-switching kills adoption.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46520" y="42153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volume / low complexity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447141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extraction, routing — these are API jobs, not chat jobs.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492861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Compliance-heavy flows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51846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needing HITL approval belong in a workflow queue, not a chat thread.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is a must-have — but as the </a:t>
            </a:r>
            <a:pPr indent="0" marL="0">
              <a:buNone/>
            </a:pPr>
            <a:r>
              <a:rPr lang="en-US" sz="12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scratchpad for sensitive data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hero UX. Volume workflows need embedded surfaces and task-specific agents.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SHIP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proposed V1 cut line for the first 10 clients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for debate, not a decision. What's the minimum end-user surface area that makes the sovereign platform sellable to 10 regulated enterprises in the next 12 months?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65960"/>
            <a:ext cx="37490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65960"/>
            <a:ext cx="3749040" cy="457200"/>
          </a:xfrm>
          <a:prstGeom prst="rect">
            <a:avLst/>
          </a:prstGeom>
          <a:solidFill>
            <a:srgbClr val="2E4C78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Platform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genesis — non-negotiable foundation.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Assistant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beachhead. Sensitive source = must-be-sovereign #1.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151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4407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as sensitive-data scratchpad, not the hero.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946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+ API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2029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tooling + the hook for every custom build.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1965960"/>
            <a:ext cx="37490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0" y="1965960"/>
            <a:ext cx="374904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for V1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Assistant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80560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citations + IdP-aware retrieval. The #1 “where's the ROI?” answer.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3355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Embedded Sidecar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8056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one: Outlook or Teams. Meet users where they work.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4151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Task/Agent Runner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80560" y="4407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catalogue of approved workflows. Even 3-5 is enough to demo value.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4946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Queue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80560" y="52029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for high-sensitivity outputs. Makes FAR / CPS 230 story real.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92440" y="1965960"/>
            <a:ext cx="37490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92440" y="1965960"/>
            <a:ext cx="3749040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6676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workspace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66760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surface; competes with Microsoft. Not V1.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66760" y="3355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/ meetings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6676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until embedded sidecars prove traction.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66760" y="4151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creative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66760" y="4407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Public-SaaS OK — brand assets, marketing imagery.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66760" y="4946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writing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366760" y="52029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Public-SaaS OK for marketing copy &amp; blog content.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E8EEF7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V1 test: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UE engineer (or claims officer, underwriter, advisor) get 30 minutes of value per day without leaving their existing tools? If yes, we sell. If no, we're still a platform in search of a product.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Regulated Enterprise AI Adoption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DISCUSSION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for the team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1463040" cy="45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10972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agree the V1 add-list (Knowledge Assistant, 1 embedded sidecar, Task Runner, Approval Queue) is the right cut to win the first 10?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Chat really a “sensitive-data scratchpad” — or is that us rationalising what we already built?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or Teams first for the embedded sidecar — which unlocks more customers in the next 12 months?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United Energy representative of the first 10 — critical infrastructure / energy as ICP, or does it extend to FSI, healthcare and public sector?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agree the control plane + evidence engine is the BUILD wedge, and everything else is buy/partner?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smallest demo loop that proves end-user value in 30 minutes — and can we ship it in 90 days?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 |  Internal POV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POV: How Regulated Enterprises Will Adopt AI</dc:title>
  <dc:subject>PptxGenJS Presentation</dc:subject>
  <dc:creator>Arda</dc:creator>
  <cp:lastModifiedBy>Arda</cp:lastModifiedBy>
  <cp:revision>1</cp:revision>
  <dcterms:created xsi:type="dcterms:W3CDTF">2026-04-11T06:16:47Z</dcterms:created>
  <dcterms:modified xsi:type="dcterms:W3CDTF">2026-04-11T06:16:47Z</dcterms:modified>
</cp:coreProperties>
</file>