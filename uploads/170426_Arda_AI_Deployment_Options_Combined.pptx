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3" r:id="rId2"/>
    <p:sldId id="260" r:id="rId3"/>
    <p:sldId id="256" r:id="rId4"/>
    <p:sldId id="257" r:id="rId5"/>
    <p:sldId id="258" r:id="rId6"/>
    <p:sldId id="259" r:id="rId7"/>
    <p:sldId id="261" r:id="rId8"/>
    <p:sldId id="264" r:id="rId9"/>
    <p:sldId id="262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A3AF"/>
    <a:srgbClr val="0B15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14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1088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9284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0"/>
            <a:ext cx="111556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Where your AI workloads can actually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520440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i="1">
                <a:solidFill>
                  <a:srgbClr val="9BA0AF"/>
                </a:solidFill>
                <a:latin typeface="Calibri"/>
              </a:rPr>
              <a:t>Four deployment options for sensitive data · comparing boundaries, control, and what crosses the wall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297680"/>
            <a:ext cx="731520" cy="36576"/>
          </a:xfrm>
          <a:prstGeom prst="rect">
            <a:avLst/>
          </a:prstGeom>
          <a:solidFill>
            <a:srgbClr val="4F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480560"/>
            <a:ext cx="1166088" cy="2308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200" b="1" dirty="0">
                <a:solidFill>
                  <a:srgbClr val="4FA3FF"/>
                </a:solidFill>
                <a:latin typeface="Calibri"/>
              </a:rPr>
              <a:t>Arda ·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to run AI on sensitive data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7-step pipeline from the previous slide — here's where data sits under each deployment model.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697480" cy="4892040"/>
          </a:xfrm>
          <a:prstGeom prst="rect">
            <a:avLst/>
          </a:prstGeom>
          <a:solidFill>
            <a:srgbClr val="142042"/>
          </a:solidFill>
          <a:ln w="9525">
            <a:solidFill>
              <a:srgbClr val="2A3656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" name="Shape 3"/>
          <p:cNvSpPr/>
          <p:nvPr/>
        </p:nvSpPr>
        <p:spPr>
          <a:xfrm>
            <a:off x="685800" y="1508760"/>
            <a:ext cx="411480" cy="411480"/>
          </a:xfrm>
          <a:prstGeom prst="ellipse">
            <a:avLst/>
          </a:prstGeom>
          <a:solidFill>
            <a:srgbClr val="1E2952"/>
          </a:solidFill>
          <a:ln w="6350">
            <a:solidFill>
              <a:srgbClr val="2A3656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5087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API (Enterprise)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514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Enterprise · Claude Enterprise · Gemini Enterprise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5800" y="3017520"/>
            <a:ext cx="2331720" cy="0"/>
          </a:xfrm>
          <a:prstGeom prst="line">
            <a:avLst/>
          </a:prstGeom>
          <a:noFill/>
          <a:ln w="6350">
            <a:solidFill>
              <a:srgbClr val="2A3656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1" name="Shape 9"/>
          <p:cNvSpPr/>
          <p:nvPr/>
        </p:nvSpPr>
        <p:spPr>
          <a:xfrm>
            <a:off x="685800" y="3191256"/>
            <a:ext cx="256032" cy="256032"/>
          </a:xfrm>
          <a:prstGeom prst="ellipse">
            <a:avLst/>
          </a:prstGeom>
          <a:solidFill>
            <a:srgbClr val="43A047"/>
          </a:solidFill>
          <a:ln w="635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2" name="Text 10"/>
          <p:cNvSpPr/>
          <p:nvPr/>
        </p:nvSpPr>
        <p:spPr>
          <a:xfrm>
            <a:off x="685800" y="3191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collection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" y="3511296"/>
            <a:ext cx="256032" cy="256032"/>
          </a:xfrm>
          <a:prstGeom prst="ellipse">
            <a:avLst/>
          </a:prstGeom>
          <a:solidFill>
            <a:srgbClr val="43A047"/>
          </a:solidFill>
          <a:ln w="635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5" name="Text 13"/>
          <p:cNvSpPr/>
          <p:nvPr/>
        </p:nvSpPr>
        <p:spPr>
          <a:xfrm>
            <a:off x="685800" y="3511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3474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Prep &amp; embedding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5800" y="3831336"/>
            <a:ext cx="256032" cy="256032"/>
          </a:xfrm>
          <a:prstGeom prst="ellipse">
            <a:avLst/>
          </a:prstGeom>
          <a:solidFill>
            <a:srgbClr val="F5A623"/>
          </a:solidFill>
          <a:ln w="63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8" name="Text 16"/>
          <p:cNvSpPr/>
          <p:nvPr/>
        </p:nvSpPr>
        <p:spPr>
          <a:xfrm>
            <a:off x="685800" y="38313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3794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Training / fine-tune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5800" y="4151376"/>
            <a:ext cx="256032" cy="256032"/>
          </a:xfrm>
          <a:prstGeom prst="ellipse">
            <a:avLst/>
          </a:prstGeom>
          <a:solidFill>
            <a:srgbClr val="EF5350"/>
          </a:solidFill>
          <a:ln w="635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1" name="Text 19"/>
          <p:cNvSpPr/>
          <p:nvPr/>
        </p:nvSpPr>
        <p:spPr>
          <a:xfrm>
            <a:off x="685800" y="41513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4114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Prompt sent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5800" y="4471416"/>
            <a:ext cx="256032" cy="256032"/>
          </a:xfrm>
          <a:prstGeom prst="ellipse">
            <a:avLst/>
          </a:prstGeom>
          <a:solidFill>
            <a:srgbClr val="EF5350"/>
          </a:solidFill>
          <a:ln w="635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4" name="Text 22"/>
          <p:cNvSpPr/>
          <p:nvPr/>
        </p:nvSpPr>
        <p:spPr>
          <a:xfrm>
            <a:off x="685800" y="4471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4434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Inference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5800" y="4791456"/>
            <a:ext cx="256032" cy="256032"/>
          </a:xfrm>
          <a:prstGeom prst="ellipse">
            <a:avLst/>
          </a:prstGeom>
          <a:solidFill>
            <a:srgbClr val="EF5350"/>
          </a:solidFill>
          <a:ln w="635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7" name="Text 25"/>
          <p:cNvSpPr/>
          <p:nvPr/>
        </p:nvSpPr>
        <p:spPr>
          <a:xfrm>
            <a:off x="685800" y="47914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4754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Response returned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" y="5111496"/>
            <a:ext cx="256032" cy="256032"/>
          </a:xfrm>
          <a:prstGeom prst="ellipse">
            <a:avLst/>
          </a:prstGeom>
          <a:solidFill>
            <a:srgbClr val="F5A623"/>
          </a:solidFill>
          <a:ln w="63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0" name="Text 28"/>
          <p:cNvSpPr/>
          <p:nvPr/>
        </p:nvSpPr>
        <p:spPr>
          <a:xfrm>
            <a:off x="685800" y="5111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05840" y="5074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Logging &amp; audit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85800" y="5486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leaves your boundary. Protected only by vendor contract (no training, retention limits).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64992" y="1325880"/>
            <a:ext cx="2697480" cy="4892040"/>
          </a:xfrm>
          <a:prstGeom prst="rect">
            <a:avLst/>
          </a:prstGeom>
          <a:solidFill>
            <a:srgbClr val="142042"/>
          </a:solidFill>
          <a:ln w="9525">
            <a:solidFill>
              <a:srgbClr val="2A3656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4" name="Shape 32"/>
          <p:cNvSpPr/>
          <p:nvPr/>
        </p:nvSpPr>
        <p:spPr>
          <a:xfrm>
            <a:off x="3547872" y="1508760"/>
            <a:ext cx="411480" cy="411480"/>
          </a:xfrm>
          <a:prstGeom prst="ellipse">
            <a:avLst/>
          </a:prstGeom>
          <a:solidFill>
            <a:srgbClr val="1E2952"/>
          </a:solidFill>
          <a:ln w="6350">
            <a:solidFill>
              <a:srgbClr val="2A3656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5" name="Text 33"/>
          <p:cNvSpPr/>
          <p:nvPr/>
        </p:nvSpPr>
        <p:spPr>
          <a:xfrm>
            <a:off x="3547872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050792" y="15087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547872" y="20116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Hyperscaler-hosted model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547872" y="2514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· AWS Bedrock · Google Vertex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547872" y="3017520"/>
            <a:ext cx="2331720" cy="0"/>
          </a:xfrm>
          <a:prstGeom prst="line">
            <a:avLst/>
          </a:prstGeom>
          <a:noFill/>
          <a:ln w="6350">
            <a:solidFill>
              <a:srgbClr val="2A3656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0" name="Shape 38"/>
          <p:cNvSpPr/>
          <p:nvPr/>
        </p:nvSpPr>
        <p:spPr>
          <a:xfrm>
            <a:off x="3547872" y="3191256"/>
            <a:ext cx="256032" cy="256032"/>
          </a:xfrm>
          <a:prstGeom prst="ellipse">
            <a:avLst/>
          </a:prstGeom>
          <a:solidFill>
            <a:srgbClr val="43A047"/>
          </a:solidFill>
          <a:ln w="635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1" name="Text 39"/>
          <p:cNvSpPr/>
          <p:nvPr/>
        </p:nvSpPr>
        <p:spPr>
          <a:xfrm>
            <a:off x="3547872" y="3191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867912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collection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547872" y="3511296"/>
            <a:ext cx="256032" cy="256032"/>
          </a:xfrm>
          <a:prstGeom prst="ellipse">
            <a:avLst/>
          </a:prstGeom>
          <a:solidFill>
            <a:srgbClr val="43A047"/>
          </a:solidFill>
          <a:ln w="635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4" name="Text 42"/>
          <p:cNvSpPr/>
          <p:nvPr/>
        </p:nvSpPr>
        <p:spPr>
          <a:xfrm>
            <a:off x="3547872" y="3511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867912" y="3474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Prep &amp; embedding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547872" y="3831336"/>
            <a:ext cx="256032" cy="256032"/>
          </a:xfrm>
          <a:prstGeom prst="ellipse">
            <a:avLst/>
          </a:prstGeom>
          <a:solidFill>
            <a:srgbClr val="F5A623"/>
          </a:solidFill>
          <a:ln w="63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7" name="Text 45"/>
          <p:cNvSpPr/>
          <p:nvPr/>
        </p:nvSpPr>
        <p:spPr>
          <a:xfrm>
            <a:off x="3547872" y="38313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867912" y="3794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Training / fine-tune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547872" y="4151376"/>
            <a:ext cx="256032" cy="256032"/>
          </a:xfrm>
          <a:prstGeom prst="ellipse">
            <a:avLst/>
          </a:prstGeom>
          <a:solidFill>
            <a:srgbClr val="F5A623"/>
          </a:solidFill>
          <a:ln w="63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0" name="Text 48"/>
          <p:cNvSpPr/>
          <p:nvPr/>
        </p:nvSpPr>
        <p:spPr>
          <a:xfrm>
            <a:off x="3547872" y="41513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867912" y="4114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Prompt sent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547872" y="4471416"/>
            <a:ext cx="256032" cy="256032"/>
          </a:xfrm>
          <a:prstGeom prst="ellipse">
            <a:avLst/>
          </a:prstGeom>
          <a:solidFill>
            <a:srgbClr val="F5A623"/>
          </a:solidFill>
          <a:ln w="63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3" name="Text 51"/>
          <p:cNvSpPr/>
          <p:nvPr/>
        </p:nvSpPr>
        <p:spPr>
          <a:xfrm>
            <a:off x="3547872" y="4471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867912" y="4434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Inference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547872" y="4791456"/>
            <a:ext cx="256032" cy="256032"/>
          </a:xfrm>
          <a:prstGeom prst="ellipse">
            <a:avLst/>
          </a:prstGeom>
          <a:solidFill>
            <a:srgbClr val="F5A623"/>
          </a:solidFill>
          <a:ln w="63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6" name="Text 54"/>
          <p:cNvSpPr/>
          <p:nvPr/>
        </p:nvSpPr>
        <p:spPr>
          <a:xfrm>
            <a:off x="3547872" y="47914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867912" y="4754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Response returned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547872" y="5111496"/>
            <a:ext cx="256032" cy="256032"/>
          </a:xfrm>
          <a:prstGeom prst="ellipse">
            <a:avLst/>
          </a:prstGeom>
          <a:solidFill>
            <a:srgbClr val="F5A623"/>
          </a:solidFill>
          <a:ln w="63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9" name="Text 57"/>
          <p:cNvSpPr/>
          <p:nvPr/>
        </p:nvSpPr>
        <p:spPr>
          <a:xfrm>
            <a:off x="3547872" y="5111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3867912" y="5074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Logging &amp; audit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3547872" y="5486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in your cloud tenant, but hyperscaler controls infra, keys (unless BYOK), and logs.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227064" y="1325880"/>
            <a:ext cx="2697480" cy="4892040"/>
          </a:xfrm>
          <a:prstGeom prst="rect">
            <a:avLst/>
          </a:prstGeom>
          <a:solidFill>
            <a:srgbClr val="142042"/>
          </a:solidFill>
          <a:ln w="9525">
            <a:solidFill>
              <a:srgbClr val="2A3656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3" name="Shape 61"/>
          <p:cNvSpPr/>
          <p:nvPr/>
        </p:nvSpPr>
        <p:spPr>
          <a:xfrm>
            <a:off x="6409944" y="1508760"/>
            <a:ext cx="411480" cy="411480"/>
          </a:xfrm>
          <a:prstGeom prst="ellipse">
            <a:avLst/>
          </a:prstGeom>
          <a:solidFill>
            <a:srgbClr val="1E2952"/>
          </a:solidFill>
          <a:ln w="6350">
            <a:solidFill>
              <a:srgbClr val="2A3656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4" name="Text 62"/>
          <p:cNvSpPr/>
          <p:nvPr/>
        </p:nvSpPr>
        <p:spPr>
          <a:xfrm>
            <a:off x="6409944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912864" y="15087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409944" y="20116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OSS in your VPC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6409944" y="2514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· Mistral · Qwen on your cloud GPUs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409944" y="3017520"/>
            <a:ext cx="2331720" cy="0"/>
          </a:xfrm>
          <a:prstGeom prst="line">
            <a:avLst/>
          </a:prstGeom>
          <a:noFill/>
          <a:ln w="6350">
            <a:solidFill>
              <a:srgbClr val="2A3656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9" name="Shape 67"/>
          <p:cNvSpPr/>
          <p:nvPr/>
        </p:nvSpPr>
        <p:spPr>
          <a:xfrm>
            <a:off x="6409944" y="3191256"/>
            <a:ext cx="256032" cy="256032"/>
          </a:xfrm>
          <a:prstGeom prst="ellipse">
            <a:avLst/>
          </a:prstGeom>
          <a:solidFill>
            <a:srgbClr val="43A047"/>
          </a:solidFill>
          <a:ln w="635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0" name="Text 68"/>
          <p:cNvSpPr/>
          <p:nvPr/>
        </p:nvSpPr>
        <p:spPr>
          <a:xfrm>
            <a:off x="6409944" y="3191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6729984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collection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6409944" y="3511296"/>
            <a:ext cx="256032" cy="256032"/>
          </a:xfrm>
          <a:prstGeom prst="ellipse">
            <a:avLst/>
          </a:prstGeom>
          <a:solidFill>
            <a:srgbClr val="43A047"/>
          </a:solidFill>
          <a:ln w="635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3" name="Text 71"/>
          <p:cNvSpPr/>
          <p:nvPr/>
        </p:nvSpPr>
        <p:spPr>
          <a:xfrm>
            <a:off x="6409944" y="3511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6729984" y="3474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Prep &amp; embedding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6409944" y="3831336"/>
            <a:ext cx="256032" cy="256032"/>
          </a:xfrm>
          <a:prstGeom prst="ellipse">
            <a:avLst/>
          </a:prstGeom>
          <a:solidFill>
            <a:srgbClr val="43A047"/>
          </a:solidFill>
          <a:ln w="635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6" name="Text 74"/>
          <p:cNvSpPr/>
          <p:nvPr/>
        </p:nvSpPr>
        <p:spPr>
          <a:xfrm>
            <a:off x="6409944" y="38313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6729984" y="3794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Training / fine-tune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6409944" y="4151376"/>
            <a:ext cx="256032" cy="256032"/>
          </a:xfrm>
          <a:prstGeom prst="ellipse">
            <a:avLst/>
          </a:prstGeom>
          <a:solidFill>
            <a:srgbClr val="43A047"/>
          </a:solidFill>
          <a:ln w="635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9" name="Text 77"/>
          <p:cNvSpPr/>
          <p:nvPr/>
        </p:nvSpPr>
        <p:spPr>
          <a:xfrm>
            <a:off x="6409944" y="41513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6729984" y="4114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Prompt sent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409944" y="4471416"/>
            <a:ext cx="256032" cy="256032"/>
          </a:xfrm>
          <a:prstGeom prst="ellipse">
            <a:avLst/>
          </a:prstGeom>
          <a:solidFill>
            <a:srgbClr val="43A047"/>
          </a:solidFill>
          <a:ln w="635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82" name="Text 80"/>
          <p:cNvSpPr/>
          <p:nvPr/>
        </p:nvSpPr>
        <p:spPr>
          <a:xfrm>
            <a:off x="6409944" y="4471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6729984" y="4434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Inference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6409944" y="4791456"/>
            <a:ext cx="256032" cy="256032"/>
          </a:xfrm>
          <a:prstGeom prst="ellipse">
            <a:avLst/>
          </a:prstGeom>
          <a:solidFill>
            <a:srgbClr val="43A047"/>
          </a:solidFill>
          <a:ln w="635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85" name="Text 83"/>
          <p:cNvSpPr/>
          <p:nvPr/>
        </p:nvSpPr>
        <p:spPr>
          <a:xfrm>
            <a:off x="6409944" y="47914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6729984" y="4754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Response returned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6409944" y="5111496"/>
            <a:ext cx="256032" cy="256032"/>
          </a:xfrm>
          <a:prstGeom prst="ellipse">
            <a:avLst/>
          </a:prstGeom>
          <a:solidFill>
            <a:srgbClr val="F5A623"/>
          </a:solidFill>
          <a:ln w="63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88" name="Text 86"/>
          <p:cNvSpPr/>
          <p:nvPr/>
        </p:nvSpPr>
        <p:spPr>
          <a:xfrm>
            <a:off x="6409944" y="5111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6729984" y="5074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Logging &amp; audit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6409944" y="5486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run the weights on your cloud account. Still sits on hyperscaler hardware &amp; control plane.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9089136" y="1325880"/>
            <a:ext cx="2697480" cy="4892040"/>
          </a:xfrm>
          <a:prstGeom prst="rect">
            <a:avLst/>
          </a:prstGeom>
          <a:solidFill>
            <a:srgbClr val="142042"/>
          </a:solidFill>
          <a:ln w="19050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92" name="Shape 90"/>
          <p:cNvSpPr/>
          <p:nvPr/>
        </p:nvSpPr>
        <p:spPr>
          <a:xfrm>
            <a:off x="9272016" y="1508760"/>
            <a:ext cx="411480" cy="411480"/>
          </a:xfrm>
          <a:prstGeom prst="ellipse">
            <a:avLst/>
          </a:prstGeom>
          <a:solidFill>
            <a:srgbClr val="4FA3FF"/>
          </a:solidFill>
          <a:ln w="6350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93" name="Text 91"/>
          <p:cNvSpPr/>
          <p:nvPr/>
        </p:nvSpPr>
        <p:spPr>
          <a:xfrm>
            <a:off x="9272016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94" name="Text 92"/>
          <p:cNvSpPr/>
          <p:nvPr/>
        </p:nvSpPr>
        <p:spPr>
          <a:xfrm>
            <a:off x="9774936" y="15087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4F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9272016" y="20116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deployment</a:t>
            </a:r>
            <a:endParaRPr lang="en-US" sz="1400" dirty="0"/>
          </a:p>
        </p:txBody>
      </p:sp>
      <p:sp>
        <p:nvSpPr>
          <p:cNvPr id="96" name="Text 94"/>
          <p:cNvSpPr/>
          <p:nvPr/>
        </p:nvSpPr>
        <p:spPr>
          <a:xfrm>
            <a:off x="9272016" y="2514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· co-lo · dedicated sovereign cloud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9272016" y="3017520"/>
            <a:ext cx="2331720" cy="0"/>
          </a:xfrm>
          <a:prstGeom prst="line">
            <a:avLst/>
          </a:prstGeom>
          <a:noFill/>
          <a:ln w="6350">
            <a:solidFill>
              <a:srgbClr val="2A3656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98" name="Shape 96"/>
          <p:cNvSpPr/>
          <p:nvPr/>
        </p:nvSpPr>
        <p:spPr>
          <a:xfrm>
            <a:off x="9272016" y="3191256"/>
            <a:ext cx="256032" cy="256032"/>
          </a:xfrm>
          <a:prstGeom prst="ellipse">
            <a:avLst/>
          </a:prstGeom>
          <a:solidFill>
            <a:srgbClr val="43A047"/>
          </a:solidFill>
          <a:ln w="635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99" name="Text 97"/>
          <p:cNvSpPr/>
          <p:nvPr/>
        </p:nvSpPr>
        <p:spPr>
          <a:xfrm>
            <a:off x="9272016" y="3191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9592056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collection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9272016" y="3511296"/>
            <a:ext cx="256032" cy="256032"/>
          </a:xfrm>
          <a:prstGeom prst="ellipse">
            <a:avLst/>
          </a:prstGeom>
          <a:solidFill>
            <a:srgbClr val="43A047"/>
          </a:solidFill>
          <a:ln w="635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02" name="Text 100"/>
          <p:cNvSpPr/>
          <p:nvPr/>
        </p:nvSpPr>
        <p:spPr>
          <a:xfrm>
            <a:off x="9272016" y="3511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9592056" y="3474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Prep &amp; embedding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9272016" y="3831336"/>
            <a:ext cx="256032" cy="256032"/>
          </a:xfrm>
          <a:prstGeom prst="ellipse">
            <a:avLst/>
          </a:prstGeom>
          <a:solidFill>
            <a:srgbClr val="43A047"/>
          </a:solidFill>
          <a:ln w="635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05" name="Text 103"/>
          <p:cNvSpPr/>
          <p:nvPr/>
        </p:nvSpPr>
        <p:spPr>
          <a:xfrm>
            <a:off x="9272016" y="38313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6" name="Text 104"/>
          <p:cNvSpPr/>
          <p:nvPr/>
        </p:nvSpPr>
        <p:spPr>
          <a:xfrm>
            <a:off x="9592056" y="3794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Training / fine-tune</a:t>
            </a:r>
            <a:endParaRPr lang="en-US" sz="950" dirty="0"/>
          </a:p>
        </p:txBody>
      </p:sp>
      <p:sp>
        <p:nvSpPr>
          <p:cNvPr id="107" name="Shape 105"/>
          <p:cNvSpPr/>
          <p:nvPr/>
        </p:nvSpPr>
        <p:spPr>
          <a:xfrm>
            <a:off x="9272016" y="4151376"/>
            <a:ext cx="256032" cy="256032"/>
          </a:xfrm>
          <a:prstGeom prst="ellipse">
            <a:avLst/>
          </a:prstGeom>
          <a:solidFill>
            <a:srgbClr val="43A047"/>
          </a:solidFill>
          <a:ln w="635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08" name="Text 106"/>
          <p:cNvSpPr/>
          <p:nvPr/>
        </p:nvSpPr>
        <p:spPr>
          <a:xfrm>
            <a:off x="9272016" y="41513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9" name="Text 107"/>
          <p:cNvSpPr/>
          <p:nvPr/>
        </p:nvSpPr>
        <p:spPr>
          <a:xfrm>
            <a:off x="9592056" y="4114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Prompt sent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9272016" y="4471416"/>
            <a:ext cx="256032" cy="256032"/>
          </a:xfrm>
          <a:prstGeom prst="ellipse">
            <a:avLst/>
          </a:prstGeom>
          <a:solidFill>
            <a:srgbClr val="43A047"/>
          </a:solidFill>
          <a:ln w="635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11" name="Text 109"/>
          <p:cNvSpPr/>
          <p:nvPr/>
        </p:nvSpPr>
        <p:spPr>
          <a:xfrm>
            <a:off x="9272016" y="4471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2" name="Text 110"/>
          <p:cNvSpPr/>
          <p:nvPr/>
        </p:nvSpPr>
        <p:spPr>
          <a:xfrm>
            <a:off x="9592056" y="4434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Inference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9272016" y="4791456"/>
            <a:ext cx="256032" cy="256032"/>
          </a:xfrm>
          <a:prstGeom prst="ellipse">
            <a:avLst/>
          </a:prstGeom>
          <a:solidFill>
            <a:srgbClr val="43A047"/>
          </a:solidFill>
          <a:ln w="635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14" name="Text 112"/>
          <p:cNvSpPr/>
          <p:nvPr/>
        </p:nvSpPr>
        <p:spPr>
          <a:xfrm>
            <a:off x="9272016" y="47914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5" name="Text 113"/>
          <p:cNvSpPr/>
          <p:nvPr/>
        </p:nvSpPr>
        <p:spPr>
          <a:xfrm>
            <a:off x="9592056" y="4754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Response returned</a:t>
            </a:r>
            <a:endParaRPr lang="en-US" sz="950" dirty="0"/>
          </a:p>
        </p:txBody>
      </p:sp>
      <p:sp>
        <p:nvSpPr>
          <p:cNvPr id="116" name="Shape 114"/>
          <p:cNvSpPr/>
          <p:nvPr/>
        </p:nvSpPr>
        <p:spPr>
          <a:xfrm>
            <a:off x="9272016" y="5111496"/>
            <a:ext cx="256032" cy="256032"/>
          </a:xfrm>
          <a:prstGeom prst="ellipse">
            <a:avLst/>
          </a:prstGeom>
          <a:solidFill>
            <a:srgbClr val="43A047"/>
          </a:solidFill>
          <a:ln w="635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17" name="Text 115"/>
          <p:cNvSpPr/>
          <p:nvPr/>
        </p:nvSpPr>
        <p:spPr>
          <a:xfrm>
            <a:off x="9272016" y="5111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8" name="Text 116"/>
          <p:cNvSpPr/>
          <p:nvPr/>
        </p:nvSpPr>
        <p:spPr>
          <a:xfrm>
            <a:off x="9592056" y="5074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Logging &amp; audit</a:t>
            </a:r>
            <a:endParaRPr lang="en-US" sz="950" dirty="0"/>
          </a:p>
        </p:txBody>
      </p:sp>
      <p:sp>
        <p:nvSpPr>
          <p:cNvPr id="119" name="Text 117"/>
          <p:cNvSpPr/>
          <p:nvPr/>
        </p:nvSpPr>
        <p:spPr>
          <a:xfrm>
            <a:off x="9272016" y="5486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steps inside your boundary. You control data, weights, keys, audit, and operations.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502920" y="6355080"/>
            <a:ext cx="164592" cy="164592"/>
          </a:xfrm>
          <a:prstGeom prst="ellipse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21" name="Text 119"/>
          <p:cNvSpPr/>
          <p:nvPr/>
        </p:nvSpPr>
        <p:spPr>
          <a:xfrm>
            <a:off x="713232" y="63276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boundary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2468880" y="6355080"/>
            <a:ext cx="164592" cy="164592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23" name="Text 121"/>
          <p:cNvSpPr/>
          <p:nvPr/>
        </p:nvSpPr>
        <p:spPr>
          <a:xfrm>
            <a:off x="2679192" y="63276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Contractual protection only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4846320" y="6355080"/>
            <a:ext cx="164592" cy="164592"/>
          </a:xfrm>
          <a:prstGeom prst="ellipse">
            <a:avLst/>
          </a:prstGeom>
          <a:solidFill>
            <a:srgbClr val="EF5350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25" name="Text 123"/>
          <p:cNvSpPr/>
          <p:nvPr/>
        </p:nvSpPr>
        <p:spPr>
          <a:xfrm>
            <a:off x="5056632" y="63276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leaves your boundary</a:t>
            </a:r>
            <a:endParaRPr lang="en-US" sz="900" dirty="0"/>
          </a:p>
        </p:txBody>
      </p:sp>
      <p:sp>
        <p:nvSpPr>
          <p:cNvPr id="126" name="Text 124"/>
          <p:cNvSpPr/>
          <p:nvPr/>
        </p:nvSpPr>
        <p:spPr>
          <a:xfrm>
            <a:off x="7498080" y="63276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i="1" dirty="0">
                <a:solidFill>
                  <a:srgbClr val="4F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Option 4 keeps all 7 steps under your full control — not just under contract.</a:t>
            </a:r>
            <a:endParaRPr lang="en-US" sz="1000" dirty="0"/>
          </a:p>
        </p:txBody>
      </p:sp>
      <p:sp>
        <p:nvSpPr>
          <p:cNvPr id="127" name="Shape 125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2A3656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4"/>
          <p:cNvSpPr/>
          <p:nvPr/>
        </p:nvSpPr>
        <p:spPr>
          <a:xfrm>
            <a:off x="8229600" y="1371600"/>
            <a:ext cx="3566160" cy="1783080"/>
          </a:xfrm>
          <a:prstGeom prst="rect">
            <a:avLst/>
          </a:prstGeom>
          <a:solidFill>
            <a:srgbClr val="0A1226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5" name="Shape 63"/>
          <p:cNvSpPr/>
          <p:nvPr/>
        </p:nvSpPr>
        <p:spPr>
          <a:xfrm>
            <a:off x="8229600" y="3246120"/>
            <a:ext cx="3566160" cy="3291840"/>
          </a:xfrm>
          <a:prstGeom prst="rect">
            <a:avLst/>
          </a:prstGeom>
          <a:solidFill>
            <a:srgbClr val="0A1226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8" name="Shape 36"/>
          <p:cNvSpPr/>
          <p:nvPr/>
        </p:nvSpPr>
        <p:spPr>
          <a:xfrm flipH="1">
            <a:off x="1874520" y="3520440"/>
            <a:ext cx="457200" cy="265176"/>
          </a:xfrm>
          <a:prstGeom prst="line">
            <a:avLst/>
          </a:prstGeom>
          <a:noFill/>
          <a:ln w="25400">
            <a:solidFill>
              <a:srgbClr val="43A04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001"/>
          </a:p>
        </p:txBody>
      </p:sp>
      <p:sp>
        <p:nvSpPr>
          <p:cNvPr id="35" name="Shape 33"/>
          <p:cNvSpPr/>
          <p:nvPr/>
        </p:nvSpPr>
        <p:spPr>
          <a:xfrm>
            <a:off x="1783080" y="2103120"/>
            <a:ext cx="548640" cy="640080"/>
          </a:xfrm>
          <a:prstGeom prst="line">
            <a:avLst/>
          </a:prstGeom>
          <a:noFill/>
          <a:ln w="25400">
            <a:solidFill>
              <a:srgbClr val="43A04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001" dirty="0"/>
          </a:p>
        </p:txBody>
      </p:sp>
      <p:sp>
        <p:nvSpPr>
          <p:cNvPr id="2" name="Text 0"/>
          <p:cNvSpPr/>
          <p:nvPr/>
        </p:nvSpPr>
        <p:spPr>
          <a:xfrm>
            <a:off x="457200" y="2286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 · Frontier API — what happens on every query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data stays in-house, but travels to the vendor on every prompt. The pattern is continuous exposure, not a single leak.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881360" y="27432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1E2952"/>
          </a:solidFill>
          <a:ln w="9525">
            <a:solidFill>
              <a:srgbClr val="2A3656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" name="Text 3"/>
          <p:cNvSpPr/>
          <p:nvPr/>
        </p:nvSpPr>
        <p:spPr>
          <a:xfrm>
            <a:off x="10881360" y="274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657600" cy="3840480"/>
          </a:xfrm>
          <a:prstGeom prst="rect">
            <a:avLst/>
          </a:prstGeom>
          <a:solidFill>
            <a:srgbClr val="142042">
              <a:alpha val="0"/>
            </a:srgbClr>
          </a:solidFill>
          <a:ln w="15875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" name="Shape 5"/>
          <p:cNvSpPr/>
          <p:nvPr/>
        </p:nvSpPr>
        <p:spPr>
          <a:xfrm>
            <a:off x="530352" y="1271016"/>
            <a:ext cx="1801368" cy="219456"/>
          </a:xfrm>
          <a:prstGeom prst="rect">
            <a:avLst/>
          </a:prstGeom>
          <a:solidFill>
            <a:srgbClr val="0B1630"/>
          </a:solidFill>
          <a:ln w="12700">
            <a:solidFill>
              <a:srgbClr val="0B1630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8" name="Text 6"/>
          <p:cNvSpPr/>
          <p:nvPr/>
        </p:nvSpPr>
        <p:spPr>
          <a:xfrm>
            <a:off x="548640" y="1252728"/>
            <a:ext cx="1856232" cy="219456"/>
          </a:xfrm>
          <a:prstGeom prst="rect">
            <a:avLst/>
          </a:prstGeom>
          <a:solidFill>
            <a:srgbClr val="0B152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4F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BOUNDARY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760720" y="1371600"/>
            <a:ext cx="2286000" cy="3840480"/>
          </a:xfrm>
          <a:prstGeom prst="rect">
            <a:avLst/>
          </a:prstGeom>
          <a:solidFill>
            <a:srgbClr val="142042">
              <a:alpha val="0"/>
            </a:srgbClr>
          </a:solidFill>
          <a:ln w="1587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001" dirty="0"/>
          </a:p>
        </p:txBody>
      </p:sp>
      <p:sp>
        <p:nvSpPr>
          <p:cNvPr id="10" name="Shape 8"/>
          <p:cNvSpPr/>
          <p:nvPr/>
        </p:nvSpPr>
        <p:spPr>
          <a:xfrm>
            <a:off x="6096000" y="1271016"/>
            <a:ext cx="1877568" cy="192024"/>
          </a:xfrm>
          <a:prstGeom prst="rect">
            <a:avLst/>
          </a:prstGeom>
          <a:solidFill>
            <a:srgbClr val="0B1630"/>
          </a:solidFill>
          <a:ln w="12700">
            <a:solidFill>
              <a:srgbClr val="0B1630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1" name="Text 9"/>
          <p:cNvSpPr/>
          <p:nvPr/>
        </p:nvSpPr>
        <p:spPr>
          <a:xfrm>
            <a:off x="5897880" y="1252728"/>
            <a:ext cx="2057400" cy="256032"/>
          </a:xfrm>
          <a:prstGeom prst="rect">
            <a:avLst/>
          </a:prstGeom>
          <a:solidFill>
            <a:srgbClr val="0B152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CLOUD </a:t>
            </a:r>
            <a:br>
              <a:rPr lang="en-US" sz="800" b="1" kern="0" spc="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800" b="1" kern="0" spc="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(their control plane)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94360" y="1737360"/>
            <a:ext cx="1188720" cy="640080"/>
          </a:xfrm>
          <a:prstGeom prst="roundRect">
            <a:avLst>
              <a:gd name="adj" fmla="val 7143"/>
            </a:avLst>
          </a:prstGeom>
          <a:solidFill>
            <a:srgbClr val="1E2952"/>
          </a:solidFill>
          <a:ln w="9525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3" name="Text 11"/>
          <p:cNvSpPr/>
          <p:nvPr/>
        </p:nvSpPr>
        <p:spPr>
          <a:xfrm>
            <a:off x="640080" y="1764792"/>
            <a:ext cx="10972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" y="2089404"/>
            <a:ext cx="10972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browser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94360" y="2743200"/>
            <a:ext cx="1280160" cy="731520"/>
          </a:xfrm>
          <a:prstGeom prst="roundRect">
            <a:avLst>
              <a:gd name="adj" fmla="val 6250"/>
            </a:avLst>
          </a:prstGeom>
          <a:solidFill>
            <a:srgbClr val="1E2952"/>
          </a:solidFill>
          <a:ln w="9525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6" name="Text 14"/>
          <p:cNvSpPr/>
          <p:nvPr/>
        </p:nvSpPr>
        <p:spPr>
          <a:xfrm>
            <a:off x="640080" y="27706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/ SSO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" y="314553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directory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94360" y="3749040"/>
            <a:ext cx="1280160" cy="777240"/>
          </a:xfrm>
          <a:prstGeom prst="roundRect">
            <a:avLst>
              <a:gd name="adj" fmla="val 5882"/>
            </a:avLst>
          </a:prstGeom>
          <a:solidFill>
            <a:srgbClr val="1E2952"/>
          </a:solidFill>
          <a:ln w="9525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9" name="Text 17"/>
          <p:cNvSpPr/>
          <p:nvPr/>
        </p:nvSpPr>
        <p:spPr>
          <a:xfrm>
            <a:off x="640080" y="3776472"/>
            <a:ext cx="118872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data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" y="4176522"/>
            <a:ext cx="118872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· PII · code · DB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31720" y="2651760"/>
            <a:ext cx="1600200" cy="914400"/>
          </a:xfrm>
          <a:prstGeom prst="roundRect">
            <a:avLst>
              <a:gd name="adj" fmla="val 5000"/>
            </a:avLst>
          </a:prstGeom>
          <a:solidFill>
            <a:srgbClr val="1E2952"/>
          </a:solidFill>
          <a:ln w="9525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2" name="Text 20"/>
          <p:cNvSpPr/>
          <p:nvPr/>
        </p:nvSpPr>
        <p:spPr>
          <a:xfrm>
            <a:off x="2377440" y="267919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wrapper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377440" y="31546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UI or your app · retrieves locally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897880" y="169164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1E2952"/>
          </a:solidFill>
          <a:ln w="9525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5" name="Text 23"/>
          <p:cNvSpPr/>
          <p:nvPr/>
        </p:nvSpPr>
        <p:spPr>
          <a:xfrm>
            <a:off x="5943600" y="171907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API gateway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0" y="20939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prompt + attachments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897880" y="2697480"/>
            <a:ext cx="2011680" cy="1005840"/>
          </a:xfrm>
          <a:prstGeom prst="roundRect">
            <a:avLst>
              <a:gd name="adj" fmla="val 4545"/>
            </a:avLst>
          </a:prstGeom>
          <a:solidFill>
            <a:srgbClr val="3A1E1E"/>
          </a:solidFill>
          <a:ln w="9525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8" name="Text 26"/>
          <p:cNvSpPr/>
          <p:nvPr/>
        </p:nvSpPr>
        <p:spPr>
          <a:xfrm>
            <a:off x="5943600" y="2724912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GPU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0" y="3250692"/>
            <a:ext cx="19202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Vendor-operated · shared tenancy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897880" y="397764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1E2952"/>
          </a:solidFill>
          <a:ln w="9525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1" name="Text 29"/>
          <p:cNvSpPr/>
          <p:nvPr/>
        </p:nvSpPr>
        <p:spPr>
          <a:xfrm>
            <a:off x="5943600" y="400507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logs / audit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0" y="43799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per vendor policy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920240" y="2331720"/>
            <a:ext cx="274320" cy="274320"/>
          </a:xfrm>
          <a:prstGeom prst="ellipse">
            <a:avLst/>
          </a:prstGeom>
          <a:solidFill>
            <a:srgbClr val="4FA3FF"/>
          </a:solidFill>
          <a:ln w="12700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4" name="Text 32"/>
          <p:cNvSpPr/>
          <p:nvPr/>
        </p:nvSpPr>
        <p:spPr>
          <a:xfrm>
            <a:off x="192024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036296" y="3587264"/>
            <a:ext cx="274320" cy="274320"/>
          </a:xfrm>
          <a:prstGeom prst="ellipse">
            <a:avLst/>
          </a:prstGeom>
          <a:solidFill>
            <a:srgbClr val="4FA3FF"/>
          </a:solidFill>
          <a:ln w="12700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7" name="Text 35"/>
          <p:cNvSpPr/>
          <p:nvPr/>
        </p:nvSpPr>
        <p:spPr>
          <a:xfrm>
            <a:off x="2036296" y="3587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 flipV="1">
            <a:off x="3931920" y="2148838"/>
            <a:ext cx="1965959" cy="502922"/>
          </a:xfrm>
          <a:prstGeom prst="line">
            <a:avLst/>
          </a:prstGeom>
          <a:noFill/>
          <a:ln w="25400">
            <a:solidFill>
              <a:srgbClr val="EF5350"/>
            </a:solidFill>
            <a:prstDash val="dash"/>
            <a:headEnd type="none"/>
            <a:tailEnd type="triangle"/>
          </a:ln>
        </p:spPr>
        <p:txBody>
          <a:bodyPr/>
          <a:lstStyle/>
          <a:p>
            <a:endParaRPr lang="en-001"/>
          </a:p>
        </p:txBody>
      </p:sp>
      <p:sp>
        <p:nvSpPr>
          <p:cNvPr id="40" name="Shape 38"/>
          <p:cNvSpPr/>
          <p:nvPr/>
        </p:nvSpPr>
        <p:spPr>
          <a:xfrm>
            <a:off x="4160520" y="1965960"/>
            <a:ext cx="274320" cy="274320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1" name="Text 39"/>
          <p:cNvSpPr/>
          <p:nvPr/>
        </p:nvSpPr>
        <p:spPr>
          <a:xfrm>
            <a:off x="416052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26280" y="2011680"/>
            <a:ext cx="1234440" cy="219456"/>
          </a:xfrm>
          <a:prstGeom prst="roundRect">
            <a:avLst>
              <a:gd name="adj" fmla="val 16667"/>
            </a:avLst>
          </a:prstGeom>
          <a:solidFill>
            <a:srgbClr val="0A1226"/>
          </a:solidFill>
          <a:ln w="635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3" name="Text 41"/>
          <p:cNvSpPr/>
          <p:nvPr/>
        </p:nvSpPr>
        <p:spPr>
          <a:xfrm>
            <a:off x="4526280" y="201168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+ PII + docs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8001000" y="2468880"/>
            <a:ext cx="274320" cy="274320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5" name="Text 43"/>
          <p:cNvSpPr/>
          <p:nvPr/>
        </p:nvSpPr>
        <p:spPr>
          <a:xfrm>
            <a:off x="800100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903720" y="2423160"/>
            <a:ext cx="0" cy="274320"/>
          </a:xfrm>
          <a:prstGeom prst="line">
            <a:avLst/>
          </a:prstGeom>
          <a:noFill/>
          <a:ln w="25400">
            <a:solidFill>
              <a:srgbClr val="EF535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001"/>
          </a:p>
        </p:txBody>
      </p:sp>
      <p:sp>
        <p:nvSpPr>
          <p:cNvPr id="47" name="Shape 45"/>
          <p:cNvSpPr/>
          <p:nvPr/>
        </p:nvSpPr>
        <p:spPr>
          <a:xfrm>
            <a:off x="5897880" y="3200400"/>
            <a:ext cx="0" cy="0"/>
          </a:xfrm>
          <a:prstGeom prst="line">
            <a:avLst/>
          </a:prstGeom>
          <a:noFill/>
          <a:ln w="25400">
            <a:solidFill>
              <a:srgbClr val="EF5350"/>
            </a:solidFill>
            <a:prstDash val="dash"/>
            <a:headEnd type="none"/>
            <a:tailEnd type="triangle"/>
          </a:ln>
        </p:spPr>
        <p:txBody>
          <a:bodyPr/>
          <a:lstStyle/>
          <a:p>
            <a:endParaRPr lang="en-001"/>
          </a:p>
        </p:txBody>
      </p:sp>
      <p:sp>
        <p:nvSpPr>
          <p:cNvPr id="48" name="Shape 46"/>
          <p:cNvSpPr/>
          <p:nvPr/>
        </p:nvSpPr>
        <p:spPr>
          <a:xfrm>
            <a:off x="4160520" y="3429000"/>
            <a:ext cx="274320" cy="274320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9" name="Text 47"/>
          <p:cNvSpPr/>
          <p:nvPr/>
        </p:nvSpPr>
        <p:spPr>
          <a:xfrm>
            <a:off x="4160520" y="3429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26280" y="3474720"/>
            <a:ext cx="1234440" cy="219456"/>
          </a:xfrm>
          <a:prstGeom prst="roundRect">
            <a:avLst>
              <a:gd name="adj" fmla="val 16667"/>
            </a:avLst>
          </a:prstGeom>
          <a:solidFill>
            <a:srgbClr val="0A1226"/>
          </a:solidFill>
          <a:ln w="635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1" name="Text 49"/>
          <p:cNvSpPr/>
          <p:nvPr/>
        </p:nvSpPr>
        <p:spPr>
          <a:xfrm>
            <a:off x="4526280" y="347472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(sensitive)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8001000" y="3794760"/>
            <a:ext cx="274320" cy="27432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3" name="Text 51"/>
          <p:cNvSpPr/>
          <p:nvPr/>
        </p:nvSpPr>
        <p:spPr>
          <a:xfrm>
            <a:off x="800100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903720" y="3703320"/>
            <a:ext cx="0" cy="274320"/>
          </a:xfrm>
          <a:prstGeom prst="line">
            <a:avLst/>
          </a:prstGeom>
          <a:noFill/>
          <a:ln w="25400">
            <a:solidFill>
              <a:srgbClr val="F472B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001"/>
          </a:p>
        </p:txBody>
      </p:sp>
      <p:sp>
        <p:nvSpPr>
          <p:cNvPr id="55" name="Text 53"/>
          <p:cNvSpPr/>
          <p:nvPr/>
        </p:nvSpPr>
        <p:spPr>
          <a:xfrm>
            <a:off x="5029200" y="4800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i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Steps 3–6 repeat on every single query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366760" y="1463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GPU ACTUALLY SITS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36676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data centre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8366760" y="20574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9464040" y="20574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Vendor-owned, shared multi-tenant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366760" y="240487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9464040" y="24048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personnel &amp; operators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8366760" y="275234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9464040" y="27523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vendor-controlled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8412480" y="33558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POSTURE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8412480" y="35661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"Vendor contracts cover us — no training, data deleted after 30 days. Good enough."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8412480" y="4325112"/>
            <a:ext cx="3200400" cy="0"/>
          </a:xfrm>
          <a:prstGeom prst="line">
            <a:avLst/>
          </a:prstGeom>
          <a:noFill/>
          <a:ln w="6350">
            <a:solidFill>
              <a:srgbClr val="2A3656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9" name="Text 67"/>
          <p:cNvSpPr/>
          <p:nvPr/>
        </p:nvSpPr>
        <p:spPr>
          <a:xfrm>
            <a:off x="8412480" y="43891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4F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BREAKS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8412480" y="4700016"/>
            <a:ext cx="109728" cy="109728"/>
          </a:xfrm>
          <a:prstGeom prst="ellipse">
            <a:avLst/>
          </a:prstGeom>
          <a:solidFill>
            <a:srgbClr val="4FA3FF"/>
          </a:solidFill>
          <a:ln w="12700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1" name="Text 69"/>
          <p:cNvSpPr/>
          <p:nvPr/>
        </p:nvSpPr>
        <p:spPr>
          <a:xfrm>
            <a:off x="8595360" y="4617720"/>
            <a:ext cx="30175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≠ control</a:t>
            </a:r>
            <a:r>
              <a:rPr lang="en-US" sz="90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Zero-retention promises depend on vendor policy &amp; enforcement you cannot audit.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8412480" y="5134356"/>
            <a:ext cx="109728" cy="109728"/>
          </a:xfrm>
          <a:prstGeom prst="ellipse">
            <a:avLst/>
          </a:prstGeom>
          <a:solidFill>
            <a:srgbClr val="4FA3FF"/>
          </a:solidFill>
          <a:ln w="12700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3" name="Text 71"/>
          <p:cNvSpPr/>
          <p:nvPr/>
        </p:nvSpPr>
        <p:spPr>
          <a:xfrm>
            <a:off x="8595360" y="5052060"/>
            <a:ext cx="30175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Jurisdictional reach</a:t>
            </a:r>
            <a:r>
              <a:rPr lang="en-US" sz="90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US vendors are subject to CLOUD Act &amp; foreign subpoenas regardless of contract.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8412480" y="5568696"/>
            <a:ext cx="109728" cy="109728"/>
          </a:xfrm>
          <a:prstGeom prst="ellipse">
            <a:avLst/>
          </a:prstGeom>
          <a:solidFill>
            <a:srgbClr val="4FA3FF"/>
          </a:solidFill>
          <a:ln w="12700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5" name="Text 73"/>
          <p:cNvSpPr/>
          <p:nvPr/>
        </p:nvSpPr>
        <p:spPr>
          <a:xfrm>
            <a:off x="8595360" y="5486400"/>
            <a:ext cx="30175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is exposure</a:t>
            </a:r>
            <a:r>
              <a:rPr lang="en-US" sz="90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It's not one leak — it's continuous transfer of sensitive context, forever.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8412480" y="6003036"/>
            <a:ext cx="109728" cy="109728"/>
          </a:xfrm>
          <a:prstGeom prst="ellipse">
            <a:avLst/>
          </a:prstGeom>
          <a:solidFill>
            <a:srgbClr val="4FA3FF"/>
          </a:solidFill>
          <a:ln w="12700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7" name="Text 75"/>
          <p:cNvSpPr/>
          <p:nvPr/>
        </p:nvSpPr>
        <p:spPr>
          <a:xfrm>
            <a:off x="8595360" y="5920740"/>
            <a:ext cx="30175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want controls</a:t>
            </a:r>
            <a:r>
              <a:rPr lang="en-US" sz="90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CPS 234 &amp; Privacy Act ask for demonstrable controls, not vendor assurances.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  </a:t>
            </a: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doesn't live at the vendor — but it visits on every query. That's the drip.</a:t>
            </a:r>
            <a:endParaRPr lang="en-US" sz="950" dirty="0"/>
          </a:p>
        </p:txBody>
      </p:sp>
      <p:sp>
        <p:nvSpPr>
          <p:cNvPr id="79" name="Shape 37">
            <a:extLst>
              <a:ext uri="{FF2B5EF4-FFF2-40B4-BE49-F238E27FC236}">
                <a16:creationId xmlns:a16="http://schemas.microsoft.com/office/drawing/2014/main" id="{6B5339C3-BF97-D382-90DA-256CA448E569}"/>
              </a:ext>
            </a:extLst>
          </p:cNvPr>
          <p:cNvSpPr/>
          <p:nvPr/>
        </p:nvSpPr>
        <p:spPr>
          <a:xfrm flipH="1" flipV="1">
            <a:off x="3977639" y="3182112"/>
            <a:ext cx="1920239" cy="18286"/>
          </a:xfrm>
          <a:prstGeom prst="line">
            <a:avLst/>
          </a:prstGeom>
          <a:noFill/>
          <a:ln w="25400">
            <a:solidFill>
              <a:srgbClr val="EF5350"/>
            </a:solidFill>
            <a:prstDash val="dash"/>
            <a:headEnd type="none"/>
            <a:tailEnd type="triangle"/>
          </a:ln>
        </p:spPr>
        <p:txBody>
          <a:bodyPr/>
          <a:lstStyle/>
          <a:p>
            <a:endParaRPr lang="en-00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 · Hyperscaler-hosted model — your tenant, their control plane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inside your cloud tenant — but the boundary is now the hyperscaler's, not yours. Control plane and keys sit with them.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881360" y="27432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1E2952"/>
          </a:solidFill>
          <a:ln w="9525">
            <a:solidFill>
              <a:srgbClr val="2A3656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" name="Text 3"/>
          <p:cNvSpPr/>
          <p:nvPr/>
        </p:nvSpPr>
        <p:spPr>
          <a:xfrm>
            <a:off x="10881360" y="274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103120" cy="3840480"/>
          </a:xfrm>
          <a:prstGeom prst="rect">
            <a:avLst/>
          </a:prstGeom>
          <a:solidFill>
            <a:srgbClr val="142042">
              <a:alpha val="0"/>
            </a:srgbClr>
          </a:solidFill>
          <a:ln w="15875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" name="Shape 5"/>
          <p:cNvSpPr/>
          <p:nvPr/>
        </p:nvSpPr>
        <p:spPr>
          <a:xfrm>
            <a:off x="530352" y="1271016"/>
            <a:ext cx="2779776" cy="201168"/>
          </a:xfrm>
          <a:prstGeom prst="rect">
            <a:avLst/>
          </a:prstGeom>
          <a:solidFill>
            <a:srgbClr val="0B1630"/>
          </a:solidFill>
          <a:ln w="12700">
            <a:solidFill>
              <a:srgbClr val="0B1630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8" name="Text 6"/>
          <p:cNvSpPr/>
          <p:nvPr/>
        </p:nvSpPr>
        <p:spPr>
          <a:xfrm>
            <a:off x="548640" y="1252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4F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BOUNDARY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926080" y="1371600"/>
            <a:ext cx="5120640" cy="3840480"/>
          </a:xfrm>
          <a:prstGeom prst="rect">
            <a:avLst/>
          </a:prstGeom>
          <a:solidFill>
            <a:srgbClr val="142042">
              <a:alpha val="0"/>
            </a:srgbClr>
          </a:solidFill>
          <a:ln w="1587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0" name="Shape 8"/>
          <p:cNvSpPr/>
          <p:nvPr/>
        </p:nvSpPr>
        <p:spPr>
          <a:xfrm>
            <a:off x="5193792" y="1271016"/>
            <a:ext cx="2779776" cy="201168"/>
          </a:xfrm>
          <a:prstGeom prst="rect">
            <a:avLst/>
          </a:prstGeom>
          <a:solidFill>
            <a:srgbClr val="0B1630"/>
          </a:solidFill>
          <a:ln w="12700">
            <a:solidFill>
              <a:srgbClr val="0B1630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1" name="Text 9"/>
          <p:cNvSpPr/>
          <p:nvPr/>
        </p:nvSpPr>
        <p:spPr>
          <a:xfrm>
            <a:off x="5212080" y="1252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HYPERSCALER TENANT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035040" y="1554480"/>
            <a:ext cx="1874520" cy="3566160"/>
          </a:xfrm>
          <a:prstGeom prst="rect">
            <a:avLst/>
          </a:prstGeom>
          <a:solidFill>
            <a:srgbClr val="142042">
              <a:alpha val="0"/>
            </a:srgbClr>
          </a:solidFill>
          <a:ln w="15875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3" name="Shape 11"/>
          <p:cNvSpPr/>
          <p:nvPr/>
        </p:nvSpPr>
        <p:spPr>
          <a:xfrm>
            <a:off x="5056632" y="1453896"/>
            <a:ext cx="2779776" cy="201168"/>
          </a:xfrm>
          <a:prstGeom prst="rect">
            <a:avLst/>
          </a:prstGeom>
          <a:solidFill>
            <a:srgbClr val="0B1630"/>
          </a:solidFill>
          <a:ln w="12700">
            <a:solidFill>
              <a:srgbClr val="0B1630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4" name="Text 12"/>
          <p:cNvSpPr/>
          <p:nvPr/>
        </p:nvSpPr>
        <p:spPr>
          <a:xfrm>
            <a:off x="5074920" y="14356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5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HYPERSCALER CONTROL PLANE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40080" y="1828800"/>
            <a:ext cx="1371600" cy="685800"/>
          </a:xfrm>
          <a:prstGeom prst="roundRect">
            <a:avLst>
              <a:gd name="adj" fmla="val 6667"/>
            </a:avLst>
          </a:prstGeom>
          <a:solidFill>
            <a:srgbClr val="1E2952"/>
          </a:solidFill>
          <a:ln w="9525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6" name="Text 14"/>
          <p:cNvSpPr/>
          <p:nvPr/>
        </p:nvSpPr>
        <p:spPr>
          <a:xfrm>
            <a:off x="685800" y="1856232"/>
            <a:ext cx="12801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85800" y="2205990"/>
            <a:ext cx="128016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40080" y="2880360"/>
            <a:ext cx="1371600" cy="731520"/>
          </a:xfrm>
          <a:prstGeom prst="roundRect">
            <a:avLst>
              <a:gd name="adj" fmla="val 6250"/>
            </a:avLst>
          </a:prstGeom>
          <a:solidFill>
            <a:srgbClr val="1E2952"/>
          </a:solidFill>
          <a:ln w="9525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9" name="Text 17"/>
          <p:cNvSpPr/>
          <p:nvPr/>
        </p:nvSpPr>
        <p:spPr>
          <a:xfrm>
            <a:off x="685800" y="290779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/ SSO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85800" y="328269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directory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154680" y="1828800"/>
            <a:ext cx="2560320" cy="731520"/>
          </a:xfrm>
          <a:prstGeom prst="roundRect">
            <a:avLst>
              <a:gd name="adj" fmla="val 6250"/>
            </a:avLst>
          </a:prstGeom>
          <a:solidFill>
            <a:srgbClr val="1E2952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2" name="Text 20"/>
          <p:cNvSpPr/>
          <p:nvPr/>
        </p:nvSpPr>
        <p:spPr>
          <a:xfrm>
            <a:off x="3200400" y="185623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API gateway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0" y="223113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Azure OpenAI endpoint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154680" y="2834640"/>
            <a:ext cx="2560320" cy="822960"/>
          </a:xfrm>
          <a:prstGeom prst="roundRect">
            <a:avLst>
              <a:gd name="adj" fmla="val 5556"/>
            </a:avLst>
          </a:prstGeom>
          <a:solidFill>
            <a:srgbClr val="1E2952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5" name="Text 23"/>
          <p:cNvSpPr/>
          <p:nvPr/>
        </p:nvSpPr>
        <p:spPr>
          <a:xfrm>
            <a:off x="3200400" y="2862072"/>
            <a:ext cx="24688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data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0" y="3287268"/>
            <a:ext cx="24688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blob / S3 / vector DB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154680" y="3886200"/>
            <a:ext cx="2560320" cy="822960"/>
          </a:xfrm>
          <a:prstGeom prst="roundRect">
            <a:avLst>
              <a:gd name="adj" fmla="val 5556"/>
            </a:avLst>
          </a:prstGeom>
          <a:solidFill>
            <a:srgbClr val="1E2952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8" name="Text 26"/>
          <p:cNvSpPr/>
          <p:nvPr/>
        </p:nvSpPr>
        <p:spPr>
          <a:xfrm>
            <a:off x="3200400" y="3913632"/>
            <a:ext cx="24688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management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00400" y="4338828"/>
            <a:ext cx="24688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BYOK optional · HSM in HS infra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217920" y="1828800"/>
            <a:ext cx="1554480" cy="1005840"/>
          </a:xfrm>
          <a:prstGeom prst="roundRect">
            <a:avLst>
              <a:gd name="adj" fmla="val 4545"/>
            </a:avLst>
          </a:prstGeom>
          <a:solidFill>
            <a:srgbClr val="1E2952"/>
          </a:solidFill>
          <a:ln w="9525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1" name="Text 29"/>
          <p:cNvSpPr/>
          <p:nvPr/>
        </p:nvSpPr>
        <p:spPr>
          <a:xfrm>
            <a:off x="6263640" y="1856232"/>
            <a:ext cx="14630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GPU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63640" y="2382012"/>
            <a:ext cx="14630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HS-owned metal · HS-managed weights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217920" y="2971800"/>
            <a:ext cx="1554480" cy="822960"/>
          </a:xfrm>
          <a:prstGeom prst="roundRect">
            <a:avLst>
              <a:gd name="adj" fmla="val 5556"/>
            </a:avLst>
          </a:prstGeom>
          <a:solidFill>
            <a:srgbClr val="1E2952"/>
          </a:solidFill>
          <a:ln w="9525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4" name="Text 32"/>
          <p:cNvSpPr/>
          <p:nvPr/>
        </p:nvSpPr>
        <p:spPr>
          <a:xfrm>
            <a:off x="6263640" y="2999232"/>
            <a:ext cx="14630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filters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63640" y="3424428"/>
            <a:ext cx="146304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HS-operated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217920" y="3931920"/>
            <a:ext cx="1554480" cy="914400"/>
          </a:xfrm>
          <a:prstGeom prst="roundRect">
            <a:avLst>
              <a:gd name="adj" fmla="val 5000"/>
            </a:avLst>
          </a:prstGeom>
          <a:solidFill>
            <a:srgbClr val="1E2952"/>
          </a:solidFill>
          <a:ln w="9525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7" name="Text 35"/>
          <p:cNvSpPr/>
          <p:nvPr/>
        </p:nvSpPr>
        <p:spPr>
          <a:xfrm>
            <a:off x="6263640" y="395935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/ audit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63640" y="4434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retains some telemetry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606040" y="2011680"/>
            <a:ext cx="274320" cy="274320"/>
          </a:xfrm>
          <a:prstGeom prst="ellipse">
            <a:avLst/>
          </a:prstGeom>
          <a:solidFill>
            <a:srgbClr val="4FA3FF"/>
          </a:solidFill>
          <a:ln w="12700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0" name="Text 38"/>
          <p:cNvSpPr/>
          <p:nvPr/>
        </p:nvSpPr>
        <p:spPr>
          <a:xfrm>
            <a:off x="260604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011680" y="2194560"/>
            <a:ext cx="11430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001"/>
          </a:p>
        </p:txBody>
      </p:sp>
      <p:sp>
        <p:nvSpPr>
          <p:cNvPr id="42" name="Shape 40"/>
          <p:cNvSpPr/>
          <p:nvPr/>
        </p:nvSpPr>
        <p:spPr>
          <a:xfrm>
            <a:off x="2103120" y="2331720"/>
            <a:ext cx="960120" cy="219456"/>
          </a:xfrm>
          <a:prstGeom prst="roundRect">
            <a:avLst>
              <a:gd name="adj" fmla="val 16667"/>
            </a:avLst>
          </a:prstGeom>
          <a:solidFill>
            <a:srgbClr val="0A1226"/>
          </a:solidFill>
          <a:ln w="63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3" name="Text 41"/>
          <p:cNvSpPr/>
          <p:nvPr/>
        </p:nvSpPr>
        <p:spPr>
          <a:xfrm>
            <a:off x="2103120" y="233172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prompt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434840" y="2560320"/>
            <a:ext cx="0" cy="27432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001"/>
          </a:p>
        </p:txBody>
      </p:sp>
      <p:sp>
        <p:nvSpPr>
          <p:cNvPr id="47" name="Shape 45"/>
          <p:cNvSpPr/>
          <p:nvPr/>
        </p:nvSpPr>
        <p:spPr>
          <a:xfrm>
            <a:off x="5074920" y="3108960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0A1226"/>
          </a:solidFill>
          <a:ln w="63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8" name="Text 46"/>
          <p:cNvSpPr/>
          <p:nvPr/>
        </p:nvSpPr>
        <p:spPr>
          <a:xfrm>
            <a:off x="5074920" y="31089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852160" y="2011680"/>
            <a:ext cx="274320" cy="27432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0" name="Text 48"/>
          <p:cNvSpPr/>
          <p:nvPr/>
        </p:nvSpPr>
        <p:spPr>
          <a:xfrm>
            <a:off x="585216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715000" y="2194560"/>
            <a:ext cx="502920" cy="0"/>
          </a:xfrm>
          <a:prstGeom prst="line">
            <a:avLst/>
          </a:prstGeom>
          <a:noFill/>
          <a:ln w="25400">
            <a:solidFill>
              <a:srgbClr val="F472B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001"/>
          </a:p>
        </p:txBody>
      </p:sp>
      <p:sp>
        <p:nvSpPr>
          <p:cNvPr id="52" name="Shape 50"/>
          <p:cNvSpPr/>
          <p:nvPr/>
        </p:nvSpPr>
        <p:spPr>
          <a:xfrm>
            <a:off x="5760720" y="1691640"/>
            <a:ext cx="1234440" cy="219456"/>
          </a:xfrm>
          <a:prstGeom prst="roundRect">
            <a:avLst>
              <a:gd name="adj" fmla="val 16667"/>
            </a:avLst>
          </a:prstGeom>
          <a:solidFill>
            <a:srgbClr val="0A1226"/>
          </a:solidFill>
          <a:ln w="635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3" name="Text 51"/>
          <p:cNvSpPr/>
          <p:nvPr/>
        </p:nvSpPr>
        <p:spPr>
          <a:xfrm>
            <a:off x="5760720" y="169164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call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7772400" y="2743200"/>
            <a:ext cx="274320" cy="27432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5" name="Text 53"/>
          <p:cNvSpPr/>
          <p:nvPr/>
        </p:nvSpPr>
        <p:spPr>
          <a:xfrm>
            <a:off x="7772400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995160" y="2834640"/>
            <a:ext cx="0" cy="137160"/>
          </a:xfrm>
          <a:prstGeom prst="line">
            <a:avLst/>
          </a:prstGeom>
          <a:noFill/>
          <a:ln w="25400">
            <a:solidFill>
              <a:srgbClr val="F472B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001"/>
          </a:p>
        </p:txBody>
      </p:sp>
      <p:sp>
        <p:nvSpPr>
          <p:cNvPr id="57" name="Shape 55"/>
          <p:cNvSpPr/>
          <p:nvPr/>
        </p:nvSpPr>
        <p:spPr>
          <a:xfrm>
            <a:off x="7772400" y="3749040"/>
            <a:ext cx="274320" cy="27432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8" name="Text 56"/>
          <p:cNvSpPr/>
          <p:nvPr/>
        </p:nvSpPr>
        <p:spPr>
          <a:xfrm>
            <a:off x="7772400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995160" y="3794760"/>
            <a:ext cx="0" cy="137160"/>
          </a:xfrm>
          <a:prstGeom prst="line">
            <a:avLst/>
          </a:prstGeom>
          <a:noFill/>
          <a:ln w="25400">
            <a:solidFill>
              <a:srgbClr val="F472B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001"/>
          </a:p>
        </p:txBody>
      </p:sp>
      <p:sp>
        <p:nvSpPr>
          <p:cNvPr id="60" name="Shape 58"/>
          <p:cNvSpPr/>
          <p:nvPr/>
        </p:nvSpPr>
        <p:spPr>
          <a:xfrm>
            <a:off x="8229600" y="1371600"/>
            <a:ext cx="3566160" cy="1783080"/>
          </a:xfrm>
          <a:prstGeom prst="rect">
            <a:avLst/>
          </a:prstGeom>
          <a:solidFill>
            <a:srgbClr val="0A1226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1" name="Text 59"/>
          <p:cNvSpPr/>
          <p:nvPr/>
        </p:nvSpPr>
        <p:spPr>
          <a:xfrm>
            <a:off x="8366760" y="1463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GPU ACTUALLY SITS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836676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Hyperscaler data centre (yours by contract)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8366760" y="20574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9464040" y="20574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HS-owned GPUs · single-tenant for inference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366760" y="240487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9464040" y="24048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Hyperscaler personnel · you don't see the box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8366760" y="275234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9464040" y="27523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Hyperscaler-controlled (BYOK is a contract, not a barrier)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8229600" y="3246120"/>
            <a:ext cx="3566160" cy="3291840"/>
          </a:xfrm>
          <a:prstGeom prst="rect">
            <a:avLst/>
          </a:prstGeom>
          <a:solidFill>
            <a:srgbClr val="0A1226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0" name="Text 68"/>
          <p:cNvSpPr/>
          <p:nvPr/>
        </p:nvSpPr>
        <p:spPr>
          <a:xfrm>
            <a:off x="8412480" y="33558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POSTURE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8412480" y="35661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"We're all-in on Azure. Our data is already there. Adding Azure OpenAI changes nothing."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8412480" y="4325112"/>
            <a:ext cx="3200400" cy="0"/>
          </a:xfrm>
          <a:prstGeom prst="line">
            <a:avLst/>
          </a:prstGeom>
          <a:noFill/>
          <a:ln w="6350">
            <a:solidFill>
              <a:srgbClr val="2A3656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3" name="Text 71"/>
          <p:cNvSpPr/>
          <p:nvPr/>
        </p:nvSpPr>
        <p:spPr>
          <a:xfrm>
            <a:off x="8412480" y="43891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4F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BREAKS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8412480" y="4700016"/>
            <a:ext cx="109728" cy="109728"/>
          </a:xfrm>
          <a:prstGeom prst="ellipse">
            <a:avLst/>
          </a:prstGeom>
          <a:solidFill>
            <a:srgbClr val="4FA3FF"/>
          </a:solidFill>
          <a:ln w="12700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5" name="Text 73"/>
          <p:cNvSpPr/>
          <p:nvPr/>
        </p:nvSpPr>
        <p:spPr>
          <a:xfrm>
            <a:off x="8595360" y="4617720"/>
            <a:ext cx="30175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 wants controls</a:t>
            </a:r>
            <a:r>
              <a:rPr lang="en-US" sz="90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CPS 234/230 require demonstrable control over classification, keys, audit — not trust.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8412480" y="5134356"/>
            <a:ext cx="109728" cy="109728"/>
          </a:xfrm>
          <a:prstGeom prst="ellipse">
            <a:avLst/>
          </a:prstGeom>
          <a:solidFill>
            <a:srgbClr val="4FA3FF"/>
          </a:solidFill>
          <a:ln w="12700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7" name="Text 75"/>
          <p:cNvSpPr/>
          <p:nvPr/>
        </p:nvSpPr>
        <p:spPr>
          <a:xfrm>
            <a:off x="8595360" y="5052060"/>
            <a:ext cx="30175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risk</a:t>
            </a:r>
            <a:r>
              <a:rPr lang="en-US" sz="90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Stack + identity + AI all on one vendor is exactly what CPS 230 targets.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8412480" y="5568696"/>
            <a:ext cx="109728" cy="109728"/>
          </a:xfrm>
          <a:prstGeom prst="ellipse">
            <a:avLst/>
          </a:prstGeom>
          <a:solidFill>
            <a:srgbClr val="4FA3FF"/>
          </a:solidFill>
          <a:ln w="12700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9" name="Text 77"/>
          <p:cNvSpPr/>
          <p:nvPr/>
        </p:nvSpPr>
        <p:spPr>
          <a:xfrm>
            <a:off x="8595360" y="5486400"/>
            <a:ext cx="30175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reality</a:t>
            </a:r>
            <a:r>
              <a:rPr lang="en-US" sz="90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You don't operate the GPU, the filter, or the logs — the hyperscaler does.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8412480" y="6003036"/>
            <a:ext cx="109728" cy="109728"/>
          </a:xfrm>
          <a:prstGeom prst="ellipse">
            <a:avLst/>
          </a:prstGeom>
          <a:solidFill>
            <a:srgbClr val="4FA3FF"/>
          </a:solidFill>
          <a:ln w="12700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81" name="Text 79"/>
          <p:cNvSpPr/>
          <p:nvPr/>
        </p:nvSpPr>
        <p:spPr>
          <a:xfrm>
            <a:off x="8595360" y="5920740"/>
            <a:ext cx="30175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 drifts</a:t>
            </a:r>
            <a:r>
              <a:rPr lang="en-US" sz="90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CLOUD Act &amp; foreign policy reshape 'data stays in Azure' without warning.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  </a:t>
            </a: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moved the wall — you didn't eliminate it. The hyperscaler is now your trust boundary.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806440" y="3154680"/>
            <a:ext cx="274320" cy="274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5" name="Text 43"/>
          <p:cNvSpPr/>
          <p:nvPr/>
        </p:nvSpPr>
        <p:spPr>
          <a:xfrm>
            <a:off x="580644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3 · Self-hosted OSS — the CIO's 'good enough sovereign'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runs inside your VPC. But your VPC lives inside the hyperscaler's metal. Strong privacy, soft sovereignty.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881360" y="27432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4FA3FF"/>
          </a:solidFill>
          <a:ln w="9525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" name="Text 3"/>
          <p:cNvSpPr/>
          <p:nvPr/>
        </p:nvSpPr>
        <p:spPr>
          <a:xfrm>
            <a:off x="10881360" y="274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B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920240" cy="3840480"/>
          </a:xfrm>
          <a:prstGeom prst="rect">
            <a:avLst/>
          </a:prstGeom>
          <a:solidFill>
            <a:srgbClr val="142042">
              <a:alpha val="0"/>
            </a:srgbClr>
          </a:solidFill>
          <a:ln w="15875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" name="Shape 5"/>
          <p:cNvSpPr/>
          <p:nvPr/>
        </p:nvSpPr>
        <p:spPr>
          <a:xfrm>
            <a:off x="530352" y="1271016"/>
            <a:ext cx="2779776" cy="201168"/>
          </a:xfrm>
          <a:prstGeom prst="rect">
            <a:avLst/>
          </a:prstGeom>
          <a:solidFill>
            <a:srgbClr val="0B1630"/>
          </a:solidFill>
          <a:ln w="12700">
            <a:solidFill>
              <a:srgbClr val="0B1630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8" name="Text 6"/>
          <p:cNvSpPr/>
          <p:nvPr/>
        </p:nvSpPr>
        <p:spPr>
          <a:xfrm>
            <a:off x="548640" y="1252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4F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BOUNDARY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0" y="1280160"/>
            <a:ext cx="5349240" cy="3977640"/>
          </a:xfrm>
          <a:prstGeom prst="rect">
            <a:avLst/>
          </a:prstGeom>
          <a:solidFill>
            <a:srgbClr val="142042">
              <a:alpha val="0"/>
            </a:srgbClr>
          </a:solidFill>
          <a:ln w="1587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0" name="Shape 8"/>
          <p:cNvSpPr/>
          <p:nvPr/>
        </p:nvSpPr>
        <p:spPr>
          <a:xfrm>
            <a:off x="5239512" y="1179576"/>
            <a:ext cx="2779776" cy="201168"/>
          </a:xfrm>
          <a:prstGeom prst="rect">
            <a:avLst/>
          </a:prstGeom>
          <a:solidFill>
            <a:srgbClr val="0B1630"/>
          </a:solidFill>
          <a:ln w="12700">
            <a:solidFill>
              <a:srgbClr val="0B1630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1" name="Text 9"/>
          <p:cNvSpPr/>
          <p:nvPr/>
        </p:nvSpPr>
        <p:spPr>
          <a:xfrm>
            <a:off x="5257800" y="1161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HYPERSCALER INFRASTRUCTURE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971800" y="1600200"/>
            <a:ext cx="4937760" cy="3520440"/>
          </a:xfrm>
          <a:prstGeom prst="rect">
            <a:avLst/>
          </a:prstGeom>
          <a:solidFill>
            <a:srgbClr val="142042">
              <a:alpha val="0"/>
            </a:srgbClr>
          </a:solidFill>
          <a:ln w="15875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3" name="Shape 11"/>
          <p:cNvSpPr/>
          <p:nvPr/>
        </p:nvSpPr>
        <p:spPr>
          <a:xfrm>
            <a:off x="5056632" y="1499616"/>
            <a:ext cx="2779776" cy="201168"/>
          </a:xfrm>
          <a:prstGeom prst="rect">
            <a:avLst/>
          </a:prstGeom>
          <a:solidFill>
            <a:srgbClr val="0B1630"/>
          </a:solidFill>
          <a:ln w="12700">
            <a:solidFill>
              <a:srgbClr val="0B1630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4" name="Text 12"/>
          <p:cNvSpPr/>
          <p:nvPr/>
        </p:nvSpPr>
        <p:spPr>
          <a:xfrm>
            <a:off x="5074920" y="14813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50" dirty="0">
                <a:solidFill>
                  <a:srgbClr val="4F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VPC (logically isolated)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40080" y="1828800"/>
            <a:ext cx="1280160" cy="685800"/>
          </a:xfrm>
          <a:prstGeom prst="roundRect">
            <a:avLst>
              <a:gd name="adj" fmla="val 6667"/>
            </a:avLst>
          </a:prstGeom>
          <a:solidFill>
            <a:srgbClr val="1E2952"/>
          </a:solidFill>
          <a:ln w="9525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6" name="Text 14"/>
          <p:cNvSpPr/>
          <p:nvPr/>
        </p:nvSpPr>
        <p:spPr>
          <a:xfrm>
            <a:off x="685800" y="1856232"/>
            <a:ext cx="11887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85800" y="2205990"/>
            <a:ext cx="118872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40080" y="2880360"/>
            <a:ext cx="1280160" cy="731520"/>
          </a:xfrm>
          <a:prstGeom prst="roundRect">
            <a:avLst>
              <a:gd name="adj" fmla="val 6250"/>
            </a:avLst>
          </a:prstGeom>
          <a:solidFill>
            <a:srgbClr val="1E2952"/>
          </a:solidFill>
          <a:ln w="9525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9" name="Text 17"/>
          <p:cNvSpPr/>
          <p:nvPr/>
        </p:nvSpPr>
        <p:spPr>
          <a:xfrm>
            <a:off x="685800" y="290779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/ SSO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85800" y="328269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directory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154680" y="1828800"/>
            <a:ext cx="2194560" cy="685800"/>
          </a:xfrm>
          <a:prstGeom prst="roundRect">
            <a:avLst>
              <a:gd name="adj" fmla="val 6667"/>
            </a:avLst>
          </a:prstGeom>
          <a:solidFill>
            <a:srgbClr val="1E2952"/>
          </a:solidFill>
          <a:ln w="9525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2" name="Text 20"/>
          <p:cNvSpPr/>
          <p:nvPr/>
        </p:nvSpPr>
        <p:spPr>
          <a:xfrm>
            <a:off x="3200400" y="1856232"/>
            <a:ext cx="21031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ARDA gateway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0" y="2205990"/>
            <a:ext cx="210312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control plane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154680" y="2788920"/>
            <a:ext cx="2194560" cy="777240"/>
          </a:xfrm>
          <a:prstGeom prst="roundRect">
            <a:avLst>
              <a:gd name="adj" fmla="val 5882"/>
            </a:avLst>
          </a:prstGeom>
          <a:solidFill>
            <a:srgbClr val="1E2952"/>
          </a:solidFill>
          <a:ln w="9525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5" name="Text 23"/>
          <p:cNvSpPr/>
          <p:nvPr/>
        </p:nvSpPr>
        <p:spPr>
          <a:xfrm>
            <a:off x="3200400" y="2816352"/>
            <a:ext cx="210312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data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0" y="3216402"/>
            <a:ext cx="210312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VPC storage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154680" y="3840480"/>
            <a:ext cx="2194560" cy="777240"/>
          </a:xfrm>
          <a:prstGeom prst="roundRect">
            <a:avLst>
              <a:gd name="adj" fmla="val 5882"/>
            </a:avLst>
          </a:prstGeom>
          <a:solidFill>
            <a:srgbClr val="1E2952"/>
          </a:solidFill>
          <a:ln w="9525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8" name="Text 26"/>
          <p:cNvSpPr/>
          <p:nvPr/>
        </p:nvSpPr>
        <p:spPr>
          <a:xfrm>
            <a:off x="3200400" y="3867912"/>
            <a:ext cx="210312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/ audit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0" y="4267962"/>
            <a:ext cx="210312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SIEM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577840" y="2331720"/>
            <a:ext cx="2148840" cy="1234440"/>
          </a:xfrm>
          <a:prstGeom prst="roundRect">
            <a:avLst>
              <a:gd name="adj" fmla="val 3704"/>
            </a:avLst>
          </a:prstGeom>
          <a:solidFill>
            <a:srgbClr val="1E2952"/>
          </a:solidFill>
          <a:ln w="9525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1" name="Text 29"/>
          <p:cNvSpPr/>
          <p:nvPr/>
        </p:nvSpPr>
        <p:spPr>
          <a:xfrm>
            <a:off x="5623560" y="2359152"/>
            <a:ext cx="205740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GPU (OSS)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23560" y="3010662"/>
            <a:ext cx="205740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/ Mistral / Qwen · on HS GPU instances · you own the weights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154680" y="4709160"/>
            <a:ext cx="4572000" cy="292608"/>
          </a:xfrm>
          <a:prstGeom prst="roundRect">
            <a:avLst>
              <a:gd name="adj" fmla="val 12500"/>
            </a:avLst>
          </a:prstGeom>
          <a:solidFill>
            <a:srgbClr val="4FA3FF"/>
          </a:solidFill>
          <a:ln w="12700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4" name="Text 32"/>
          <p:cNvSpPr/>
          <p:nvPr/>
        </p:nvSpPr>
        <p:spPr>
          <a:xfrm>
            <a:off x="3154680" y="4709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ARDA platform orchestrates this entire layer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965960" y="2057400"/>
            <a:ext cx="274320" cy="274320"/>
          </a:xfrm>
          <a:prstGeom prst="ellipse">
            <a:avLst/>
          </a:prstGeom>
          <a:solidFill>
            <a:srgbClr val="4FA3FF"/>
          </a:solidFill>
          <a:ln w="12700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6" name="Text 34"/>
          <p:cNvSpPr/>
          <p:nvPr/>
        </p:nvSpPr>
        <p:spPr>
          <a:xfrm>
            <a:off x="196596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920240" y="2148840"/>
            <a:ext cx="1234440" cy="0"/>
          </a:xfrm>
          <a:prstGeom prst="line">
            <a:avLst/>
          </a:prstGeom>
          <a:noFill/>
          <a:ln w="25400">
            <a:solidFill>
              <a:srgbClr val="43A04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001"/>
          </a:p>
        </p:txBody>
      </p:sp>
      <p:sp>
        <p:nvSpPr>
          <p:cNvPr id="38" name="Shape 36"/>
          <p:cNvSpPr/>
          <p:nvPr/>
        </p:nvSpPr>
        <p:spPr>
          <a:xfrm>
            <a:off x="2011680" y="2331720"/>
            <a:ext cx="1051560" cy="219456"/>
          </a:xfrm>
          <a:prstGeom prst="roundRect">
            <a:avLst>
              <a:gd name="adj" fmla="val 16667"/>
            </a:avLst>
          </a:prstGeom>
          <a:solidFill>
            <a:srgbClr val="0A1226"/>
          </a:solidFill>
          <a:ln w="635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9" name="Text 37"/>
          <p:cNvSpPr/>
          <p:nvPr/>
        </p:nvSpPr>
        <p:spPr>
          <a:xfrm>
            <a:off x="2011680" y="233172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prompt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977640" y="3566160"/>
            <a:ext cx="274320" cy="274320"/>
          </a:xfrm>
          <a:prstGeom prst="ellipse">
            <a:avLst/>
          </a:prstGeom>
          <a:solidFill>
            <a:srgbClr val="4FA3FF"/>
          </a:solidFill>
          <a:ln w="12700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1" name="Text 39"/>
          <p:cNvSpPr/>
          <p:nvPr/>
        </p:nvSpPr>
        <p:spPr>
          <a:xfrm>
            <a:off x="397764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251960" y="2514600"/>
            <a:ext cx="0" cy="274320"/>
          </a:xfrm>
          <a:prstGeom prst="line">
            <a:avLst/>
          </a:prstGeom>
          <a:noFill/>
          <a:ln w="25400">
            <a:solidFill>
              <a:srgbClr val="43A04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001"/>
          </a:p>
        </p:txBody>
      </p:sp>
      <p:sp>
        <p:nvSpPr>
          <p:cNvPr id="43" name="Shape 41"/>
          <p:cNvSpPr/>
          <p:nvPr/>
        </p:nvSpPr>
        <p:spPr>
          <a:xfrm>
            <a:off x="3840480" y="2633472"/>
            <a:ext cx="868680" cy="219456"/>
          </a:xfrm>
          <a:prstGeom prst="roundRect">
            <a:avLst>
              <a:gd name="adj" fmla="val 16667"/>
            </a:avLst>
          </a:prstGeom>
          <a:solidFill>
            <a:srgbClr val="0A1226"/>
          </a:solidFill>
          <a:ln w="635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4" name="Text 42"/>
          <p:cNvSpPr/>
          <p:nvPr/>
        </p:nvSpPr>
        <p:spPr>
          <a:xfrm>
            <a:off x="3840480" y="263347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440680" y="2057400"/>
            <a:ext cx="274320" cy="274320"/>
          </a:xfrm>
          <a:prstGeom prst="ellipse">
            <a:avLst/>
          </a:prstGeom>
          <a:solidFill>
            <a:srgbClr val="4FA3FF"/>
          </a:solidFill>
          <a:ln w="12700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6" name="Text 44"/>
          <p:cNvSpPr/>
          <p:nvPr/>
        </p:nvSpPr>
        <p:spPr>
          <a:xfrm>
            <a:off x="544068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349240" y="2194560"/>
            <a:ext cx="228600" cy="411480"/>
          </a:xfrm>
          <a:prstGeom prst="line">
            <a:avLst/>
          </a:prstGeom>
          <a:noFill/>
          <a:ln w="25400">
            <a:solidFill>
              <a:srgbClr val="43A04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001"/>
          </a:p>
        </p:txBody>
      </p:sp>
      <p:sp>
        <p:nvSpPr>
          <p:cNvPr id="48" name="Shape 46"/>
          <p:cNvSpPr/>
          <p:nvPr/>
        </p:nvSpPr>
        <p:spPr>
          <a:xfrm>
            <a:off x="4937760" y="1828800"/>
            <a:ext cx="1097280" cy="219456"/>
          </a:xfrm>
          <a:prstGeom prst="roundRect">
            <a:avLst>
              <a:gd name="adj" fmla="val 16667"/>
            </a:avLst>
          </a:prstGeom>
          <a:solidFill>
            <a:srgbClr val="0A1226"/>
          </a:solidFill>
          <a:ln w="635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9" name="Text 47"/>
          <p:cNvSpPr/>
          <p:nvPr/>
        </p:nvSpPr>
        <p:spPr>
          <a:xfrm>
            <a:off x="4937760" y="18288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394960" y="3703320"/>
            <a:ext cx="274320" cy="274320"/>
          </a:xfrm>
          <a:prstGeom prst="ellipse">
            <a:avLst/>
          </a:prstGeom>
          <a:solidFill>
            <a:srgbClr val="4FA3FF"/>
          </a:solidFill>
          <a:ln w="12700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1" name="Text 49"/>
          <p:cNvSpPr/>
          <p:nvPr/>
        </p:nvSpPr>
        <p:spPr>
          <a:xfrm>
            <a:off x="539496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577840" y="3383280"/>
            <a:ext cx="0" cy="548640"/>
          </a:xfrm>
          <a:prstGeom prst="line">
            <a:avLst/>
          </a:prstGeom>
          <a:noFill/>
          <a:ln w="25400">
            <a:solidFill>
              <a:srgbClr val="43A04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001"/>
          </a:p>
        </p:txBody>
      </p:sp>
      <p:sp>
        <p:nvSpPr>
          <p:cNvPr id="53" name="Shape 51"/>
          <p:cNvSpPr/>
          <p:nvPr/>
        </p:nvSpPr>
        <p:spPr>
          <a:xfrm>
            <a:off x="4937760" y="3977640"/>
            <a:ext cx="1097280" cy="219456"/>
          </a:xfrm>
          <a:prstGeom prst="roundRect">
            <a:avLst>
              <a:gd name="adj" fmla="val 16667"/>
            </a:avLst>
          </a:prstGeom>
          <a:solidFill>
            <a:srgbClr val="0A1226"/>
          </a:solidFill>
          <a:ln w="635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4" name="Text 52"/>
          <p:cNvSpPr/>
          <p:nvPr/>
        </p:nvSpPr>
        <p:spPr>
          <a:xfrm>
            <a:off x="4937760" y="39776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entry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2880360" y="507492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Metal, hypervisor &amp; network fabric remain hyperscaler-operated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8229600" y="1371600"/>
            <a:ext cx="3566160" cy="1783080"/>
          </a:xfrm>
          <a:prstGeom prst="rect">
            <a:avLst/>
          </a:prstGeom>
          <a:solidFill>
            <a:srgbClr val="0A1226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7" name="Text 55"/>
          <p:cNvSpPr/>
          <p:nvPr/>
        </p:nvSpPr>
        <p:spPr>
          <a:xfrm>
            <a:off x="8366760" y="1463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GPU ACTUALLY SITS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36676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Hyperscaler data centre (your VPC)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8366760" y="20574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9464040" y="20574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HS-owned GPU instances · you rent capacity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366760" y="240487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9464040" y="24048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operate the software; HS operates the metal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8366760" y="275234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9464040" y="27523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app layer yours, infra layer HS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8229600" y="3246120"/>
            <a:ext cx="3566160" cy="3291840"/>
          </a:xfrm>
          <a:prstGeom prst="rect">
            <a:avLst/>
          </a:prstGeom>
          <a:solidFill>
            <a:srgbClr val="0A1226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6" name="Text 64"/>
          <p:cNvSpPr/>
          <p:nvPr/>
        </p:nvSpPr>
        <p:spPr>
          <a:xfrm>
            <a:off x="8412480" y="33558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POSTURE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8412480" y="35661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already trust Azure with our data. Running Llama in our VPC changes nothing."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8412480" y="4325112"/>
            <a:ext cx="3200400" cy="0"/>
          </a:xfrm>
          <a:prstGeom prst="line">
            <a:avLst/>
          </a:prstGeom>
          <a:noFill/>
          <a:ln w="6350">
            <a:solidFill>
              <a:srgbClr val="2A3656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9" name="Text 67"/>
          <p:cNvSpPr/>
          <p:nvPr/>
        </p:nvSpPr>
        <p:spPr>
          <a:xfrm>
            <a:off x="8412480" y="43891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4F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BREAKS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8412480" y="4700016"/>
            <a:ext cx="109728" cy="109728"/>
          </a:xfrm>
          <a:prstGeom prst="ellipse">
            <a:avLst/>
          </a:prstGeom>
          <a:solidFill>
            <a:srgbClr val="4FA3FF"/>
          </a:solidFill>
          <a:ln w="12700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1" name="Text 69"/>
          <p:cNvSpPr/>
          <p:nvPr/>
        </p:nvSpPr>
        <p:spPr>
          <a:xfrm>
            <a:off x="8595360" y="4617720"/>
            <a:ext cx="30175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audit controls</a:t>
            </a:r>
            <a:r>
              <a:rPr lang="en-US" sz="90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'We trust Azure' is not a CPS 234 answer. Demonstrable control is.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8412480" y="5134356"/>
            <a:ext cx="109728" cy="109728"/>
          </a:xfrm>
          <a:prstGeom prst="ellipse">
            <a:avLst/>
          </a:prstGeom>
          <a:solidFill>
            <a:srgbClr val="4FA3FF"/>
          </a:solidFill>
          <a:ln w="12700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3" name="Text 71"/>
          <p:cNvSpPr/>
          <p:nvPr/>
        </p:nvSpPr>
        <p:spPr>
          <a:xfrm>
            <a:off x="8595360" y="5052060"/>
            <a:ext cx="30175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risk</a:t>
            </a:r>
            <a:r>
              <a:rPr lang="en-US" sz="90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Stack + AI + identity all on one vendor = the exposure CPS 230 targets.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8412480" y="5568696"/>
            <a:ext cx="109728" cy="109728"/>
          </a:xfrm>
          <a:prstGeom prst="ellipse">
            <a:avLst/>
          </a:prstGeom>
          <a:solidFill>
            <a:srgbClr val="4FA3FF"/>
          </a:solidFill>
          <a:ln w="12700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5" name="Text 73"/>
          <p:cNvSpPr/>
          <p:nvPr/>
        </p:nvSpPr>
        <p:spPr>
          <a:xfrm>
            <a:off x="8595360" y="5486400"/>
            <a:ext cx="30175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still theirs</a:t>
            </a:r>
            <a:r>
              <a:rPr lang="en-US" sz="90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Hypervisor, network fabric, physical security stay hyperscaler-operated.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8412480" y="6003036"/>
            <a:ext cx="109728" cy="109728"/>
          </a:xfrm>
          <a:prstGeom prst="ellipse">
            <a:avLst/>
          </a:prstGeom>
          <a:solidFill>
            <a:srgbClr val="4FA3FF"/>
          </a:solidFill>
          <a:ln w="12700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7" name="Text 75"/>
          <p:cNvSpPr/>
          <p:nvPr/>
        </p:nvSpPr>
        <p:spPr>
          <a:xfrm>
            <a:off x="8595360" y="5920740"/>
            <a:ext cx="30175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Geopolitical drift</a:t>
            </a:r>
            <a:r>
              <a:rPr lang="en-US" sz="90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Today's Azure boundary isn't next year's. Sovereign decouples the risk.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4F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  </a:t>
            </a: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Arda-compatible, and a legitimate choice — but not a sovereignty answer for compliance-blocked buyers.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4 · Sovereign deployment — one wall, nothing crosses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— user, identity, data, model, GPU, logs, keys — sits inside the customer security boundary. This is Arda's category.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881360" y="27432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4FA3FF"/>
          </a:solidFill>
          <a:ln w="9525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" name="Text 3"/>
          <p:cNvSpPr/>
          <p:nvPr/>
        </p:nvSpPr>
        <p:spPr>
          <a:xfrm>
            <a:off x="10881360" y="274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B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47120" cy="3840480"/>
          </a:xfrm>
          <a:prstGeom prst="rect">
            <a:avLst/>
          </a:prstGeom>
          <a:solidFill>
            <a:srgbClr val="142042">
              <a:alpha val="0"/>
            </a:srgbClr>
          </a:solidFill>
          <a:ln w="15875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" name="Shape 5"/>
          <p:cNvSpPr/>
          <p:nvPr/>
        </p:nvSpPr>
        <p:spPr>
          <a:xfrm>
            <a:off x="530352" y="1271016"/>
            <a:ext cx="2779776" cy="201168"/>
          </a:xfrm>
          <a:prstGeom prst="rect">
            <a:avLst/>
          </a:prstGeom>
          <a:solidFill>
            <a:srgbClr val="0B1630"/>
          </a:solidFill>
          <a:ln w="12700">
            <a:solidFill>
              <a:srgbClr val="0B1630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8" name="Text 6"/>
          <p:cNvSpPr/>
          <p:nvPr/>
        </p:nvSpPr>
        <p:spPr>
          <a:xfrm>
            <a:off x="548640" y="1252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4F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SECURITY BOUNDARY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1463040" cy="777240"/>
          </a:xfrm>
          <a:prstGeom prst="roundRect">
            <a:avLst>
              <a:gd name="adj" fmla="val 5882"/>
            </a:avLst>
          </a:prstGeom>
          <a:solidFill>
            <a:srgbClr val="1E2952"/>
          </a:solidFill>
          <a:ln w="9525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0" name="Text 8"/>
          <p:cNvSpPr/>
          <p:nvPr/>
        </p:nvSpPr>
        <p:spPr>
          <a:xfrm>
            <a:off x="822960" y="1856232"/>
            <a:ext cx="137160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22960" y="2256282"/>
            <a:ext cx="137160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777240" y="2834640"/>
            <a:ext cx="1463040" cy="777240"/>
          </a:xfrm>
          <a:prstGeom prst="roundRect">
            <a:avLst>
              <a:gd name="adj" fmla="val 5882"/>
            </a:avLst>
          </a:prstGeom>
          <a:solidFill>
            <a:srgbClr val="1E2952"/>
          </a:solidFill>
          <a:ln w="9525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3" name="Text 11"/>
          <p:cNvSpPr/>
          <p:nvPr/>
        </p:nvSpPr>
        <p:spPr>
          <a:xfrm>
            <a:off x="822960" y="2862072"/>
            <a:ext cx="137160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/ SSO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960" y="3262122"/>
            <a:ext cx="137160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directory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77240" y="3840480"/>
            <a:ext cx="1463040" cy="777240"/>
          </a:xfrm>
          <a:prstGeom prst="roundRect">
            <a:avLst>
              <a:gd name="adj" fmla="val 5882"/>
            </a:avLst>
          </a:prstGeom>
          <a:solidFill>
            <a:srgbClr val="1E2952"/>
          </a:solidFill>
          <a:ln w="9525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6" name="Text 14"/>
          <p:cNvSpPr/>
          <p:nvPr/>
        </p:nvSpPr>
        <p:spPr>
          <a:xfrm>
            <a:off x="822960" y="3867912"/>
            <a:ext cx="137160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/ HSM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2960" y="4267962"/>
            <a:ext cx="137160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hold them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743200" y="1828800"/>
            <a:ext cx="2286000" cy="777240"/>
          </a:xfrm>
          <a:prstGeom prst="roundRect">
            <a:avLst>
              <a:gd name="adj" fmla="val 5882"/>
            </a:avLst>
          </a:prstGeom>
          <a:solidFill>
            <a:srgbClr val="1E2952"/>
          </a:solidFill>
          <a:ln w="9525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9" name="Text 17"/>
          <p:cNvSpPr/>
          <p:nvPr/>
        </p:nvSpPr>
        <p:spPr>
          <a:xfrm>
            <a:off x="2788920" y="1856232"/>
            <a:ext cx="219456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ARDA gateway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88920" y="2256282"/>
            <a:ext cx="219456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control plane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743200" y="2834640"/>
            <a:ext cx="2286000" cy="777240"/>
          </a:xfrm>
          <a:prstGeom prst="roundRect">
            <a:avLst>
              <a:gd name="adj" fmla="val 5882"/>
            </a:avLst>
          </a:prstGeom>
          <a:solidFill>
            <a:srgbClr val="1E2952"/>
          </a:solidFill>
          <a:ln w="9525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2" name="Text 20"/>
          <p:cNvSpPr/>
          <p:nvPr/>
        </p:nvSpPr>
        <p:spPr>
          <a:xfrm>
            <a:off x="2788920" y="2862072"/>
            <a:ext cx="219456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data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88920" y="3262122"/>
            <a:ext cx="219456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systems, DB, vector store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743200" y="3840480"/>
            <a:ext cx="2286000" cy="777240"/>
          </a:xfrm>
          <a:prstGeom prst="roundRect">
            <a:avLst>
              <a:gd name="adj" fmla="val 5882"/>
            </a:avLst>
          </a:prstGeom>
          <a:solidFill>
            <a:srgbClr val="1E2952"/>
          </a:solidFill>
          <a:ln w="9525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5" name="Text 23"/>
          <p:cNvSpPr/>
          <p:nvPr/>
        </p:nvSpPr>
        <p:spPr>
          <a:xfrm>
            <a:off x="2788920" y="3867912"/>
            <a:ext cx="219456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/ audit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88920" y="4267962"/>
            <a:ext cx="219456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SIEM, immutable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577840" y="2331720"/>
            <a:ext cx="2560320" cy="1371600"/>
          </a:xfrm>
          <a:prstGeom prst="roundRect">
            <a:avLst>
              <a:gd name="adj" fmla="val 3333"/>
            </a:avLst>
          </a:prstGeom>
          <a:solidFill>
            <a:srgbClr val="1E2952"/>
          </a:solidFill>
          <a:ln w="9525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8" name="Text 26"/>
          <p:cNvSpPr/>
          <p:nvPr/>
        </p:nvSpPr>
        <p:spPr>
          <a:xfrm>
            <a:off x="5623560" y="2359152"/>
            <a:ext cx="24688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GPU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23560" y="3086100"/>
            <a:ext cx="24688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weights · you control · on-prem or sovereign hardware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577840" y="3840480"/>
            <a:ext cx="2560320" cy="777240"/>
          </a:xfrm>
          <a:prstGeom prst="roundRect">
            <a:avLst>
              <a:gd name="adj" fmla="val 5882"/>
            </a:avLst>
          </a:prstGeom>
          <a:solidFill>
            <a:srgbClr val="1E2952"/>
          </a:solidFill>
          <a:ln w="9525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1" name="Text 29"/>
          <p:cNvSpPr/>
          <p:nvPr/>
        </p:nvSpPr>
        <p:spPr>
          <a:xfrm>
            <a:off x="5623560" y="3867912"/>
            <a:ext cx="24688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filters / guardrails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23560" y="4267962"/>
            <a:ext cx="246888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Yours — policy-as-code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8503920" y="1828800"/>
            <a:ext cx="2926080" cy="3200400"/>
          </a:xfrm>
          <a:prstGeom prst="roundRect">
            <a:avLst>
              <a:gd name="adj" fmla="val 2500"/>
            </a:avLst>
          </a:prstGeom>
          <a:solidFill>
            <a:srgbClr val="1A2A52"/>
          </a:solidFill>
          <a:ln w="19050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4" name="Text 32"/>
          <p:cNvSpPr/>
          <p:nvPr/>
        </p:nvSpPr>
        <p:spPr>
          <a:xfrm>
            <a:off x="8503920" y="1965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400" dirty="0">
                <a:solidFill>
                  <a:srgbClr val="4F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ARDA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503920" y="2423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layer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732520" y="2980944"/>
            <a:ext cx="109728" cy="109728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7" name="Text 35"/>
          <p:cNvSpPr/>
          <p:nvPr/>
        </p:nvSpPr>
        <p:spPr>
          <a:xfrm>
            <a:off x="891540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&amp; policy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732520" y="3364992"/>
            <a:ext cx="109728" cy="109728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9" name="Text 37"/>
          <p:cNvSpPr/>
          <p:nvPr/>
        </p:nvSpPr>
        <p:spPr>
          <a:xfrm>
            <a:off x="8915400" y="32644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integration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732520" y="3749040"/>
            <a:ext cx="109728" cy="109728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1" name="Text 39"/>
          <p:cNvSpPr/>
          <p:nvPr/>
        </p:nvSpPr>
        <p:spPr>
          <a:xfrm>
            <a:off x="8915400" y="36484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evidence engine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732520" y="4133088"/>
            <a:ext cx="109728" cy="109728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3" name="Text 41"/>
          <p:cNvSpPr/>
          <p:nvPr/>
        </p:nvSpPr>
        <p:spPr>
          <a:xfrm>
            <a:off x="8915400" y="403250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 runtime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732520" y="4517136"/>
            <a:ext cx="109728" cy="109728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5" name="Text 43"/>
          <p:cNvSpPr/>
          <p:nvPr/>
        </p:nvSpPr>
        <p:spPr>
          <a:xfrm>
            <a:off x="8915400" y="44165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automation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331720" y="2103120"/>
            <a:ext cx="274320" cy="274320"/>
          </a:xfrm>
          <a:prstGeom prst="ellipse">
            <a:avLst/>
          </a:prstGeom>
          <a:solidFill>
            <a:srgbClr val="4FA3FF"/>
          </a:solidFill>
          <a:ln w="12700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7" name="Text 45"/>
          <p:cNvSpPr/>
          <p:nvPr/>
        </p:nvSpPr>
        <p:spPr>
          <a:xfrm>
            <a:off x="233172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240280" y="2194560"/>
            <a:ext cx="502920" cy="0"/>
          </a:xfrm>
          <a:prstGeom prst="line">
            <a:avLst/>
          </a:prstGeom>
          <a:noFill/>
          <a:ln w="25400">
            <a:solidFill>
              <a:srgbClr val="43A04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001"/>
          </a:p>
        </p:txBody>
      </p:sp>
      <p:sp>
        <p:nvSpPr>
          <p:cNvPr id="49" name="Shape 47"/>
          <p:cNvSpPr/>
          <p:nvPr/>
        </p:nvSpPr>
        <p:spPr>
          <a:xfrm>
            <a:off x="3749040" y="2697480"/>
            <a:ext cx="274320" cy="274320"/>
          </a:xfrm>
          <a:prstGeom prst="ellipse">
            <a:avLst/>
          </a:prstGeom>
          <a:solidFill>
            <a:srgbClr val="4FA3FF"/>
          </a:solidFill>
          <a:ln w="12700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0" name="Text 48"/>
          <p:cNvSpPr/>
          <p:nvPr/>
        </p:nvSpPr>
        <p:spPr>
          <a:xfrm>
            <a:off x="374904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886200" y="2606040"/>
            <a:ext cx="0" cy="228600"/>
          </a:xfrm>
          <a:prstGeom prst="line">
            <a:avLst/>
          </a:prstGeom>
          <a:noFill/>
          <a:ln w="25400">
            <a:solidFill>
              <a:srgbClr val="43A04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001"/>
          </a:p>
        </p:txBody>
      </p:sp>
      <p:sp>
        <p:nvSpPr>
          <p:cNvPr id="52" name="Shape 50"/>
          <p:cNvSpPr/>
          <p:nvPr/>
        </p:nvSpPr>
        <p:spPr>
          <a:xfrm>
            <a:off x="5120640" y="2103120"/>
            <a:ext cx="274320" cy="274320"/>
          </a:xfrm>
          <a:prstGeom prst="ellipse">
            <a:avLst/>
          </a:prstGeom>
          <a:solidFill>
            <a:srgbClr val="4FA3FF"/>
          </a:solidFill>
          <a:ln w="12700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3" name="Text 51"/>
          <p:cNvSpPr/>
          <p:nvPr/>
        </p:nvSpPr>
        <p:spPr>
          <a:xfrm>
            <a:off x="512064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029200" y="2194560"/>
            <a:ext cx="548640" cy="502920"/>
          </a:xfrm>
          <a:prstGeom prst="line">
            <a:avLst/>
          </a:prstGeom>
          <a:noFill/>
          <a:ln w="25400">
            <a:solidFill>
              <a:srgbClr val="43A04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001"/>
          </a:p>
        </p:txBody>
      </p:sp>
      <p:sp>
        <p:nvSpPr>
          <p:cNvPr id="55" name="Shape 53"/>
          <p:cNvSpPr/>
          <p:nvPr/>
        </p:nvSpPr>
        <p:spPr>
          <a:xfrm>
            <a:off x="5120640" y="3749040"/>
            <a:ext cx="274320" cy="274320"/>
          </a:xfrm>
          <a:prstGeom prst="ellipse">
            <a:avLst/>
          </a:prstGeom>
          <a:solidFill>
            <a:srgbClr val="4FA3FF"/>
          </a:solidFill>
          <a:ln w="12700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6" name="Text 54"/>
          <p:cNvSpPr/>
          <p:nvPr/>
        </p:nvSpPr>
        <p:spPr>
          <a:xfrm>
            <a:off x="5120640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577840" y="3520440"/>
            <a:ext cx="0" cy="594360"/>
          </a:xfrm>
          <a:prstGeom prst="line">
            <a:avLst/>
          </a:prstGeom>
          <a:noFill/>
          <a:ln w="25400">
            <a:solidFill>
              <a:srgbClr val="43A04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001"/>
          </a:p>
        </p:txBody>
      </p:sp>
      <p:sp>
        <p:nvSpPr>
          <p:cNvPr id="58" name="Shape 56"/>
          <p:cNvSpPr/>
          <p:nvPr/>
        </p:nvSpPr>
        <p:spPr>
          <a:xfrm>
            <a:off x="457200" y="5486400"/>
            <a:ext cx="2651760" cy="914400"/>
          </a:xfrm>
          <a:prstGeom prst="rect">
            <a:avLst/>
          </a:prstGeom>
          <a:solidFill>
            <a:srgbClr val="0A1226"/>
          </a:solidFill>
          <a:ln w="6350">
            <a:solidFill>
              <a:srgbClr val="2A3656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9" name="Text 57"/>
          <p:cNvSpPr/>
          <p:nvPr/>
        </p:nvSpPr>
        <p:spPr>
          <a:xfrm>
            <a:off x="594360" y="5596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94360" y="5806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94360" y="6080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DC · air-gap capable · defence / classified gov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200400" y="5486400"/>
            <a:ext cx="2651760" cy="914400"/>
          </a:xfrm>
          <a:prstGeom prst="rect">
            <a:avLst/>
          </a:prstGeom>
          <a:solidFill>
            <a:srgbClr val="0A1226"/>
          </a:solidFill>
          <a:ln w="6350">
            <a:solidFill>
              <a:srgbClr val="2A3656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3" name="Text 61"/>
          <p:cNvSpPr/>
          <p:nvPr/>
        </p:nvSpPr>
        <p:spPr>
          <a:xfrm>
            <a:off x="3337560" y="5596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3337560" y="5806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Co-location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3337560" y="6080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Customer-owned GPUs in NextDC / Equinix · APRA-regulated FSI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5943600" y="5486400"/>
            <a:ext cx="2651760" cy="914400"/>
          </a:xfrm>
          <a:prstGeom prst="rect">
            <a:avLst/>
          </a:prstGeom>
          <a:solidFill>
            <a:srgbClr val="0A1226"/>
          </a:solidFill>
          <a:ln w="6350">
            <a:solidFill>
              <a:srgbClr val="2A3656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7" name="Text 65"/>
          <p:cNvSpPr/>
          <p:nvPr/>
        </p:nvSpPr>
        <p:spPr>
          <a:xfrm>
            <a:off x="6080760" y="5596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4C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080760" y="5806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sovereign cloud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6080760" y="6080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AUCloud, Vault, CoreWeave · FSI, health, state gov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8686800" y="5486400"/>
            <a:ext cx="2651760" cy="914400"/>
          </a:xfrm>
          <a:prstGeom prst="rect">
            <a:avLst/>
          </a:prstGeom>
          <a:solidFill>
            <a:srgbClr val="1A2A52"/>
          </a:solidFill>
          <a:ln w="12700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1" name="Text 69"/>
          <p:cNvSpPr/>
          <p:nvPr/>
        </p:nvSpPr>
        <p:spPr>
          <a:xfrm>
            <a:off x="8823960" y="5596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4F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ARDA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8823960" y="5806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Arda delivers all three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8823960" y="6080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multiple deployment topologies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4F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   </a:t>
            </a: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 boundary. No hyperscaler control plane. No data leaving on every query. One wall, fully yours.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≠ on-premises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4 spans four deployment modes. All keep data inside the customer boundary — they differ on physical control vs operational simplicity.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697480" cy="3611880"/>
          </a:xfrm>
          <a:prstGeom prst="rect">
            <a:avLst/>
          </a:prstGeom>
          <a:solidFill>
            <a:srgbClr val="142042"/>
          </a:solidFill>
          <a:ln w="15240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" name="Shape 3"/>
          <p:cNvSpPr/>
          <p:nvPr/>
        </p:nvSpPr>
        <p:spPr>
          <a:xfrm>
            <a:off x="685800" y="150876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1E2952"/>
          </a:solidFill>
          <a:ln w="9525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313432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0D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Customer-owned hardware in customer data centre. Air-gap capable.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3291840"/>
            <a:ext cx="2331720" cy="0"/>
          </a:xfrm>
          <a:prstGeom prst="line">
            <a:avLst/>
          </a:prstGeom>
          <a:noFill/>
          <a:ln w="6350">
            <a:solidFill>
              <a:srgbClr val="2A3656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0" name="Text 8"/>
          <p:cNvSpPr/>
          <p:nvPr/>
        </p:nvSpPr>
        <p:spPr>
          <a:xfrm>
            <a:off x="685800" y="341071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LOCATION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85800" y="357530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physical site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5800" y="388620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85800" y="40507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 Arda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85800" y="436168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 FOR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85800" y="45262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· Intelligence · Classified gov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64992" y="1325880"/>
            <a:ext cx="2697480" cy="3611880"/>
          </a:xfrm>
          <a:prstGeom prst="rect">
            <a:avLst/>
          </a:prstGeom>
          <a:solidFill>
            <a:srgbClr val="142042"/>
          </a:solidFill>
          <a:ln w="15240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7" name="Shape 15"/>
          <p:cNvSpPr/>
          <p:nvPr/>
        </p:nvSpPr>
        <p:spPr>
          <a:xfrm>
            <a:off x="3547872" y="150876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1E2952"/>
          </a:solidFill>
          <a:ln w="9525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8" name="Text 16"/>
          <p:cNvSpPr/>
          <p:nvPr/>
        </p:nvSpPr>
        <p:spPr>
          <a:xfrm>
            <a:off x="3547872" y="15087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47872" y="1920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Customer-owned co-lo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47872" y="2313432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0D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owns the GPUs; hardware sits in a tier-3 DC (NextDC, Equinix).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47872" y="3291840"/>
            <a:ext cx="2331720" cy="0"/>
          </a:xfrm>
          <a:prstGeom prst="line">
            <a:avLst/>
          </a:prstGeom>
          <a:noFill/>
          <a:ln w="6350">
            <a:solidFill>
              <a:srgbClr val="2A3656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2" name="Text 20"/>
          <p:cNvSpPr/>
          <p:nvPr/>
        </p:nvSpPr>
        <p:spPr>
          <a:xfrm>
            <a:off x="3547872" y="341071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LOCATION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547872" y="357530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DC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547872" y="388620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547872" y="40507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 Arda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547872" y="436168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 FOR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547872" y="45262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APRA-regulated FSI · Large healthcare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27064" y="1325880"/>
            <a:ext cx="2697480" cy="3611880"/>
          </a:xfrm>
          <a:prstGeom prst="rect">
            <a:avLst/>
          </a:prstGeom>
          <a:solidFill>
            <a:srgbClr val="142042"/>
          </a:solidFill>
          <a:ln w="15240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9" name="Shape 27"/>
          <p:cNvSpPr/>
          <p:nvPr/>
        </p:nvSpPr>
        <p:spPr>
          <a:xfrm>
            <a:off x="6409944" y="150876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1E2952"/>
          </a:solidFill>
          <a:ln w="9525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0" name="Text 28"/>
          <p:cNvSpPr/>
          <p:nvPr/>
        </p:nvSpPr>
        <p:spPr>
          <a:xfrm>
            <a:off x="6409944" y="15087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9944" y="1920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sovereign cloud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9944" y="2313432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0D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Single-tenant dedicated GPU from a sovereign provider (AUCloud, Vault, CoreWeave).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9944" y="3291840"/>
            <a:ext cx="2331720" cy="0"/>
          </a:xfrm>
          <a:prstGeom prst="line">
            <a:avLst/>
          </a:prstGeom>
          <a:noFill/>
          <a:ln w="6350">
            <a:solidFill>
              <a:srgbClr val="2A3656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4" name="Text 32"/>
          <p:cNvSpPr/>
          <p:nvPr/>
        </p:nvSpPr>
        <p:spPr>
          <a:xfrm>
            <a:off x="6409944" y="341071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LOCATION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409944" y="357530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cloud DC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409944" y="388620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409944" y="40507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provider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409944" y="436168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 FOR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409944" y="45262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FSI · Healthcare · State gov · Critical infra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089136" y="1325880"/>
            <a:ext cx="2697480" cy="3611880"/>
          </a:xfrm>
          <a:prstGeom prst="rect">
            <a:avLst/>
          </a:prstGeom>
          <a:solidFill>
            <a:srgbClr val="142042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1" name="Shape 39"/>
          <p:cNvSpPr/>
          <p:nvPr/>
        </p:nvSpPr>
        <p:spPr>
          <a:xfrm>
            <a:off x="9272016" y="150876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4A3820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2" name="Text 40"/>
          <p:cNvSpPr/>
          <p:nvPr/>
        </p:nvSpPr>
        <p:spPr>
          <a:xfrm>
            <a:off x="9272016" y="15087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272016" y="1920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Hyperscaler dedicated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272016" y="2313432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0D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hosts or confidential compute on AWS/Azure/GCP.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9272016" y="3291840"/>
            <a:ext cx="2331720" cy="0"/>
          </a:xfrm>
          <a:prstGeom prst="line">
            <a:avLst/>
          </a:prstGeom>
          <a:noFill/>
          <a:ln w="6350">
            <a:solidFill>
              <a:srgbClr val="2A3656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6" name="Text 44"/>
          <p:cNvSpPr/>
          <p:nvPr/>
        </p:nvSpPr>
        <p:spPr>
          <a:xfrm>
            <a:off x="9272016" y="341071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LOCATION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9272016" y="357530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Hyperscaler DC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9272016" y="388620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9272016" y="40507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Hyperscaler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9272016" y="436168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 FOR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9272016" y="45262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Cloud-first enterprises wanting 'sovereign-lite'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02920" y="5120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control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02920" y="5376672"/>
            <a:ext cx="2811780" cy="91440"/>
          </a:xfrm>
          <a:prstGeom prst="rect">
            <a:avLst/>
          </a:prstGeom>
          <a:solidFill>
            <a:srgbClr val="4FA3FF"/>
          </a:solidFill>
          <a:ln w="12700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4" name="Shape 52"/>
          <p:cNvSpPr/>
          <p:nvPr/>
        </p:nvSpPr>
        <p:spPr>
          <a:xfrm>
            <a:off x="3314700" y="5376672"/>
            <a:ext cx="2811780" cy="91440"/>
          </a:xfrm>
          <a:prstGeom prst="rect">
            <a:avLst/>
          </a:prstGeom>
          <a:solidFill>
            <a:srgbClr val="3B82D9"/>
          </a:solidFill>
          <a:ln w="12700">
            <a:solidFill>
              <a:srgbClr val="3B82D9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5" name="Shape 53"/>
          <p:cNvSpPr/>
          <p:nvPr/>
        </p:nvSpPr>
        <p:spPr>
          <a:xfrm>
            <a:off x="6126480" y="5376672"/>
            <a:ext cx="2811780" cy="91440"/>
          </a:xfrm>
          <a:prstGeom prst="rect">
            <a:avLst/>
          </a:prstGeom>
          <a:solidFill>
            <a:srgbClr val="2860AD"/>
          </a:solidFill>
          <a:ln w="12700">
            <a:solidFill>
              <a:srgbClr val="2860AD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6" name="Shape 54"/>
          <p:cNvSpPr/>
          <p:nvPr/>
        </p:nvSpPr>
        <p:spPr>
          <a:xfrm>
            <a:off x="8938260" y="5376672"/>
            <a:ext cx="281178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7" name="Text 55"/>
          <p:cNvSpPr/>
          <p:nvPr/>
        </p:nvSpPr>
        <p:spPr>
          <a:xfrm>
            <a:off x="502920" y="55138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F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physical custody, air-gap possible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7178040" y="55138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contractual sovereignty on shared infra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02920" y="5806440"/>
            <a:ext cx="11247120" cy="640080"/>
          </a:xfrm>
          <a:prstGeom prst="rect">
            <a:avLst/>
          </a:prstGeom>
          <a:solidFill>
            <a:srgbClr val="1E2952"/>
          </a:solidFill>
          <a:ln w="12700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0" name="Text 58"/>
          <p:cNvSpPr/>
          <p:nvPr/>
        </p:nvSpPr>
        <p:spPr>
          <a:xfrm>
            <a:off x="685800" y="58064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4F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ARDA'S SWEET SPOT 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4a–4c all keep 7/7 steps inside the boundary — </a:t>
            </a:r>
            <a:r>
              <a:rPr lang="en-US" sz="1050" b="1" dirty="0">
                <a:solidFill>
                  <a:srgbClr val="4F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 + 4c </a:t>
            </a:r>
            <a:r>
              <a:rPr lang="en-US" sz="1050" dirty="0">
                <a:solidFill>
                  <a:srgbClr val="D0D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(practical sovereign) is ~10× the market of 4a alone.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2A3656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651760"/>
            <a:ext cx="1115568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 spc="300">
                <a:solidFill>
                  <a:srgbClr val="4FA3FF"/>
                </a:solidFill>
                <a:latin typeface="Calibr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063240"/>
            <a:ext cx="111556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Architecture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1115568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i="1">
                <a:solidFill>
                  <a:srgbClr val="9BA0AF"/>
                </a:solidFill>
                <a:latin typeface="Calibri"/>
              </a:rPr>
              <a:t>A minimal side-by-side of the four options — for quick reference.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572000"/>
            <a:ext cx="731520" cy="36576"/>
          </a:xfrm>
          <a:prstGeom prst="rect">
            <a:avLst/>
          </a:prstGeom>
          <a:solidFill>
            <a:srgbClr val="4F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your data actually go?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architecture view — user, context data, GPU. Watch what crosses the enterprise wall.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92640" y="502920"/>
            <a:ext cx="274320" cy="0"/>
          </a:xfrm>
          <a:prstGeom prst="line">
            <a:avLst/>
          </a:prstGeom>
          <a:noFill/>
          <a:ln w="254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in-boundary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881360" y="502920"/>
            <a:ext cx="274320" cy="0"/>
          </a:xfrm>
          <a:prstGeom prst="line">
            <a:avLst/>
          </a:prstGeom>
          <a:noFill/>
          <a:ln w="25400">
            <a:solidFill>
              <a:srgbClr val="EF5350"/>
            </a:solidFill>
            <a:prstDash val="dash"/>
          </a:ln>
        </p:spPr>
        <p:txBody>
          <a:bodyPr/>
          <a:lstStyle/>
          <a:p>
            <a:endParaRPr lang="en-001"/>
          </a:p>
        </p:txBody>
      </p:sp>
      <p:sp>
        <p:nvSpPr>
          <p:cNvPr id="7" name="Text 5"/>
          <p:cNvSpPr/>
          <p:nvPr/>
        </p:nvSpPr>
        <p:spPr>
          <a:xfrm>
            <a:off x="11201400" y="3931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crosses the wall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5623560" cy="2514600"/>
          </a:xfrm>
          <a:prstGeom prst="rect">
            <a:avLst/>
          </a:prstGeom>
          <a:solidFill>
            <a:srgbClr val="142042"/>
          </a:solidFill>
          <a:ln w="9525">
            <a:solidFill>
              <a:srgbClr val="2A3656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9" name="Shape 7"/>
          <p:cNvSpPr/>
          <p:nvPr/>
        </p:nvSpPr>
        <p:spPr>
          <a:xfrm>
            <a:off x="640080" y="1444752"/>
            <a:ext cx="329184" cy="329184"/>
          </a:xfrm>
          <a:prstGeom prst="ellipse">
            <a:avLst/>
          </a:prstGeom>
          <a:solidFill>
            <a:srgbClr val="1E2952"/>
          </a:solidFill>
          <a:ln w="6350">
            <a:solidFill>
              <a:srgbClr val="2A3656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0" name="Text 8"/>
          <p:cNvSpPr/>
          <p:nvPr/>
        </p:nvSpPr>
        <p:spPr>
          <a:xfrm>
            <a:off x="640080" y="1444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14447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API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44475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Enterprise · Claude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5800" y="1965960"/>
            <a:ext cx="2834640" cy="1554480"/>
          </a:xfrm>
          <a:prstGeom prst="rect">
            <a:avLst/>
          </a:prstGeom>
          <a:solidFill>
            <a:srgbClr val="142042">
              <a:alpha val="0"/>
            </a:srgbClr>
          </a:solidFill>
          <a:ln w="15875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4" name="Text 12"/>
          <p:cNvSpPr/>
          <p:nvPr/>
        </p:nvSpPr>
        <p:spPr>
          <a:xfrm>
            <a:off x="758952" y="18013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rgbClr val="4F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977640" y="1965960"/>
            <a:ext cx="1874520" cy="1554480"/>
          </a:xfrm>
          <a:prstGeom prst="rect">
            <a:avLst/>
          </a:prstGeom>
          <a:solidFill>
            <a:srgbClr val="142042">
              <a:alpha val="0"/>
            </a:srgbClr>
          </a:solidFill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6" name="Text 14"/>
          <p:cNvSpPr/>
          <p:nvPr/>
        </p:nvSpPr>
        <p:spPr>
          <a:xfrm>
            <a:off x="3767328" y="18013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CLOUD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68680" y="2286000"/>
            <a:ext cx="1051560" cy="502920"/>
          </a:xfrm>
          <a:prstGeom prst="roundRect">
            <a:avLst>
              <a:gd name="adj" fmla="val 9091"/>
            </a:avLst>
          </a:prstGeom>
          <a:solidFill>
            <a:srgbClr val="1E2952"/>
          </a:solidFill>
          <a:ln w="9525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8" name="Text 16"/>
          <p:cNvSpPr/>
          <p:nvPr/>
        </p:nvSpPr>
        <p:spPr>
          <a:xfrm>
            <a:off x="914400" y="2313432"/>
            <a:ext cx="96012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2562606"/>
            <a:ext cx="96012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286000" y="2240280"/>
            <a:ext cx="1097280" cy="594360"/>
          </a:xfrm>
          <a:prstGeom prst="roundRect">
            <a:avLst>
              <a:gd name="adj" fmla="val 7692"/>
            </a:avLst>
          </a:prstGeom>
          <a:solidFill>
            <a:srgbClr val="1E2952"/>
          </a:solidFill>
          <a:ln w="9525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1" name="Text 19"/>
          <p:cNvSpPr/>
          <p:nvPr/>
        </p:nvSpPr>
        <p:spPr>
          <a:xfrm>
            <a:off x="2331720" y="2267712"/>
            <a:ext cx="100584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data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31720" y="2567178"/>
            <a:ext cx="100584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Docs, PII, code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251960" y="2377440"/>
            <a:ext cx="1371600" cy="685800"/>
          </a:xfrm>
          <a:prstGeom prst="roundRect">
            <a:avLst>
              <a:gd name="adj" fmla="val 6667"/>
            </a:avLst>
          </a:prstGeom>
          <a:solidFill>
            <a:srgbClr val="3A1E1E"/>
          </a:solidFill>
          <a:ln w="9525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4" name="Text 22"/>
          <p:cNvSpPr/>
          <p:nvPr/>
        </p:nvSpPr>
        <p:spPr>
          <a:xfrm>
            <a:off x="4297680" y="2404872"/>
            <a:ext cx="12801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GPU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97680" y="2754630"/>
            <a:ext cx="128016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Vendor-operated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920240" y="2532888"/>
            <a:ext cx="365760" cy="0"/>
          </a:xfrm>
          <a:prstGeom prst="line">
            <a:avLst/>
          </a:prstGeom>
          <a:noFill/>
          <a:ln w="22225">
            <a:solidFill>
              <a:srgbClr val="43A04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001"/>
          </a:p>
        </p:txBody>
      </p:sp>
      <p:sp>
        <p:nvSpPr>
          <p:cNvPr id="27" name="Shape 25"/>
          <p:cNvSpPr/>
          <p:nvPr/>
        </p:nvSpPr>
        <p:spPr>
          <a:xfrm>
            <a:off x="3383280" y="2532888"/>
            <a:ext cx="868680" cy="182880"/>
          </a:xfrm>
          <a:prstGeom prst="line">
            <a:avLst/>
          </a:prstGeom>
          <a:noFill/>
          <a:ln w="22225">
            <a:solidFill>
              <a:srgbClr val="EF5350"/>
            </a:solidFill>
            <a:prstDash val="dash"/>
            <a:headEnd type="none"/>
            <a:tailEnd type="triangle"/>
          </a:ln>
        </p:spPr>
        <p:txBody>
          <a:bodyPr/>
          <a:lstStyle/>
          <a:p>
            <a:endParaRPr lang="en-001"/>
          </a:p>
        </p:txBody>
      </p:sp>
      <p:sp>
        <p:nvSpPr>
          <p:cNvPr id="28" name="Shape 26"/>
          <p:cNvSpPr/>
          <p:nvPr/>
        </p:nvSpPr>
        <p:spPr>
          <a:xfrm>
            <a:off x="4251960" y="2880360"/>
            <a:ext cx="0" cy="91440"/>
          </a:xfrm>
          <a:prstGeom prst="line">
            <a:avLst/>
          </a:prstGeom>
          <a:noFill/>
          <a:ln w="22225">
            <a:solidFill>
              <a:srgbClr val="EF5350"/>
            </a:solidFill>
            <a:prstDash val="dash"/>
            <a:headEnd type="none"/>
            <a:tailEnd type="triangle"/>
          </a:ln>
        </p:spPr>
        <p:txBody>
          <a:bodyPr/>
          <a:lstStyle/>
          <a:p>
            <a:endParaRPr lang="en-001"/>
          </a:p>
        </p:txBody>
      </p:sp>
      <p:sp>
        <p:nvSpPr>
          <p:cNvPr id="29" name="Text 27"/>
          <p:cNvSpPr/>
          <p:nvPr/>
        </p:nvSpPr>
        <p:spPr>
          <a:xfrm>
            <a:off x="3337560" y="3017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85800" y="34290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travels out with every query — continuous drip, not a one-time leak.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63640" y="1280160"/>
            <a:ext cx="5623560" cy="2514600"/>
          </a:xfrm>
          <a:prstGeom prst="rect">
            <a:avLst/>
          </a:prstGeom>
          <a:solidFill>
            <a:srgbClr val="142042"/>
          </a:solidFill>
          <a:ln w="9525">
            <a:solidFill>
              <a:srgbClr val="2A3656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2" name="Shape 30"/>
          <p:cNvSpPr/>
          <p:nvPr/>
        </p:nvSpPr>
        <p:spPr>
          <a:xfrm>
            <a:off x="6446520" y="1444752"/>
            <a:ext cx="329184" cy="329184"/>
          </a:xfrm>
          <a:prstGeom prst="ellipse">
            <a:avLst/>
          </a:prstGeom>
          <a:solidFill>
            <a:srgbClr val="1E2952"/>
          </a:solidFill>
          <a:ln w="6350">
            <a:solidFill>
              <a:srgbClr val="2A3656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3" name="Text 31"/>
          <p:cNvSpPr/>
          <p:nvPr/>
        </p:nvSpPr>
        <p:spPr>
          <a:xfrm>
            <a:off x="6446520" y="1444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58000" y="14447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Hyperscaler-hosted model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189720" y="144475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· Bedrock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492240" y="1965960"/>
            <a:ext cx="1600200" cy="1554480"/>
          </a:xfrm>
          <a:prstGeom prst="rect">
            <a:avLst/>
          </a:prstGeom>
          <a:solidFill>
            <a:srgbClr val="142042">
              <a:alpha val="0"/>
            </a:srgbClr>
          </a:solidFill>
          <a:ln w="15875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7" name="Text 35"/>
          <p:cNvSpPr/>
          <p:nvPr/>
        </p:nvSpPr>
        <p:spPr>
          <a:xfrm>
            <a:off x="6565392" y="18013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rgbClr val="4F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8321040" y="1965960"/>
            <a:ext cx="3337560" cy="1554480"/>
          </a:xfrm>
          <a:prstGeom prst="rect">
            <a:avLst/>
          </a:prstGeom>
          <a:solidFill>
            <a:srgbClr val="142042">
              <a:alpha val="0"/>
            </a:srgbClr>
          </a:solidFill>
          <a:ln w="1587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9" name="Text 37"/>
          <p:cNvSpPr/>
          <p:nvPr/>
        </p:nvSpPr>
        <p:spPr>
          <a:xfrm>
            <a:off x="9573768" y="18013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kern="0" spc="1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HYPERSCALER TENANT (YOURS)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766560" y="2423160"/>
            <a:ext cx="1051560" cy="502920"/>
          </a:xfrm>
          <a:prstGeom prst="roundRect">
            <a:avLst>
              <a:gd name="adj" fmla="val 9091"/>
            </a:avLst>
          </a:prstGeom>
          <a:solidFill>
            <a:srgbClr val="1E2952"/>
          </a:solidFill>
          <a:ln w="9525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1" name="Text 39"/>
          <p:cNvSpPr/>
          <p:nvPr/>
        </p:nvSpPr>
        <p:spPr>
          <a:xfrm>
            <a:off x="6812280" y="2450592"/>
            <a:ext cx="96012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812280" y="2699766"/>
            <a:ext cx="96012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8549640" y="2331720"/>
            <a:ext cx="1234440" cy="640080"/>
          </a:xfrm>
          <a:prstGeom prst="roundRect">
            <a:avLst>
              <a:gd name="adj" fmla="val 7143"/>
            </a:avLst>
          </a:prstGeom>
          <a:solidFill>
            <a:srgbClr val="1E2952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4" name="Text 42"/>
          <p:cNvSpPr/>
          <p:nvPr/>
        </p:nvSpPr>
        <p:spPr>
          <a:xfrm>
            <a:off x="8595360" y="2359152"/>
            <a:ext cx="11430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data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595360" y="2683764"/>
            <a:ext cx="11430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S3, Blob, etc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0104120" y="2331720"/>
            <a:ext cx="1371600" cy="640080"/>
          </a:xfrm>
          <a:prstGeom prst="roundRect">
            <a:avLst>
              <a:gd name="adj" fmla="val 7143"/>
            </a:avLst>
          </a:prstGeom>
          <a:solidFill>
            <a:srgbClr val="1E2952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7" name="Text 45"/>
          <p:cNvSpPr/>
          <p:nvPr/>
        </p:nvSpPr>
        <p:spPr>
          <a:xfrm>
            <a:off x="10149840" y="2359152"/>
            <a:ext cx="12801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GPU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149840" y="2683764"/>
            <a:ext cx="12801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tenant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818120" y="2679192"/>
            <a:ext cx="731520" cy="0"/>
          </a:xfrm>
          <a:prstGeom prst="line">
            <a:avLst/>
          </a:prstGeom>
          <a:noFill/>
          <a:ln w="22225">
            <a:solidFill>
              <a:srgbClr val="F5A62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001"/>
          </a:p>
        </p:txBody>
      </p:sp>
      <p:sp>
        <p:nvSpPr>
          <p:cNvPr id="50" name="Shape 48"/>
          <p:cNvSpPr/>
          <p:nvPr/>
        </p:nvSpPr>
        <p:spPr>
          <a:xfrm>
            <a:off x="9784080" y="2651760"/>
            <a:ext cx="320040" cy="0"/>
          </a:xfrm>
          <a:prstGeom prst="line">
            <a:avLst/>
          </a:prstGeom>
          <a:noFill/>
          <a:ln w="22225">
            <a:solidFill>
              <a:srgbClr val="F5A62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001"/>
          </a:p>
        </p:txBody>
      </p:sp>
      <p:sp>
        <p:nvSpPr>
          <p:cNvPr id="51" name="Text 49"/>
          <p:cNvSpPr/>
          <p:nvPr/>
        </p:nvSpPr>
        <p:spPr>
          <a:xfrm>
            <a:off x="6492240" y="34290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in your cloud tenant — but on hyperscaler infra, under their control plane.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" y="3977640"/>
            <a:ext cx="5623560" cy="2514600"/>
          </a:xfrm>
          <a:prstGeom prst="rect">
            <a:avLst/>
          </a:prstGeom>
          <a:solidFill>
            <a:srgbClr val="142042"/>
          </a:solidFill>
          <a:ln w="15240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3" name="Shape 51"/>
          <p:cNvSpPr/>
          <p:nvPr/>
        </p:nvSpPr>
        <p:spPr>
          <a:xfrm>
            <a:off x="640080" y="4142232"/>
            <a:ext cx="329184" cy="329184"/>
          </a:xfrm>
          <a:prstGeom prst="ellipse">
            <a:avLst/>
          </a:prstGeom>
          <a:solidFill>
            <a:srgbClr val="4FA3FF"/>
          </a:solidFill>
          <a:ln w="6350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4" name="Text 52"/>
          <p:cNvSpPr/>
          <p:nvPr/>
        </p:nvSpPr>
        <p:spPr>
          <a:xfrm>
            <a:off x="640080" y="4142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1051560" y="41422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OSS in VPC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3383280" y="414223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· Mistral on your cloud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85800" y="4663440"/>
            <a:ext cx="1417320" cy="1554480"/>
          </a:xfrm>
          <a:prstGeom prst="rect">
            <a:avLst/>
          </a:prstGeom>
          <a:solidFill>
            <a:srgbClr val="142042">
              <a:alpha val="0"/>
            </a:srgbClr>
          </a:solidFill>
          <a:ln w="15875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8" name="Text 56"/>
          <p:cNvSpPr/>
          <p:nvPr/>
        </p:nvSpPr>
        <p:spPr>
          <a:xfrm>
            <a:off x="758952" y="44988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rgbClr val="4F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2331720" y="4663440"/>
            <a:ext cx="3520440" cy="1554480"/>
          </a:xfrm>
          <a:prstGeom prst="rect">
            <a:avLst/>
          </a:prstGeom>
          <a:solidFill>
            <a:srgbClr val="142042">
              <a:alpha val="0"/>
            </a:srgbClr>
          </a:solidFill>
          <a:ln w="15875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0" name="Text 58"/>
          <p:cNvSpPr/>
          <p:nvPr/>
        </p:nvSpPr>
        <p:spPr>
          <a:xfrm>
            <a:off x="3767328" y="44988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kern="0" spc="150" dirty="0">
                <a:solidFill>
                  <a:srgbClr val="4F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VPC · ON HYPERSCALER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868680" y="5120640"/>
            <a:ext cx="1051560" cy="502920"/>
          </a:xfrm>
          <a:prstGeom prst="roundRect">
            <a:avLst>
              <a:gd name="adj" fmla="val 9091"/>
            </a:avLst>
          </a:prstGeom>
          <a:solidFill>
            <a:srgbClr val="1E2952"/>
          </a:solidFill>
          <a:ln w="9525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2" name="Text 60"/>
          <p:cNvSpPr/>
          <p:nvPr/>
        </p:nvSpPr>
        <p:spPr>
          <a:xfrm>
            <a:off x="914400" y="5148072"/>
            <a:ext cx="96012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14400" y="5397246"/>
            <a:ext cx="96012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560320" y="5029200"/>
            <a:ext cx="1280160" cy="640080"/>
          </a:xfrm>
          <a:prstGeom prst="roundRect">
            <a:avLst>
              <a:gd name="adj" fmla="val 7143"/>
            </a:avLst>
          </a:prstGeom>
          <a:solidFill>
            <a:srgbClr val="1E2952"/>
          </a:solidFill>
          <a:ln w="9525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5" name="Text 63"/>
          <p:cNvSpPr/>
          <p:nvPr/>
        </p:nvSpPr>
        <p:spPr>
          <a:xfrm>
            <a:off x="2606040" y="5056632"/>
            <a:ext cx="11887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data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2606040" y="5381244"/>
            <a:ext cx="11887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VPC storage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4206240" y="5029200"/>
            <a:ext cx="1371600" cy="640080"/>
          </a:xfrm>
          <a:prstGeom prst="roundRect">
            <a:avLst>
              <a:gd name="adj" fmla="val 7143"/>
            </a:avLst>
          </a:prstGeom>
          <a:solidFill>
            <a:srgbClr val="1E2952"/>
          </a:solidFill>
          <a:ln w="9525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8" name="Text 66"/>
          <p:cNvSpPr/>
          <p:nvPr/>
        </p:nvSpPr>
        <p:spPr>
          <a:xfrm>
            <a:off x="4251960" y="5056632"/>
            <a:ext cx="12801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GPU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251960" y="5381244"/>
            <a:ext cx="12801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weights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611880" y="5806440"/>
            <a:ext cx="1280160" cy="237744"/>
          </a:xfrm>
          <a:prstGeom prst="roundRect">
            <a:avLst>
              <a:gd name="adj" fmla="val 15385"/>
            </a:avLst>
          </a:prstGeom>
          <a:solidFill>
            <a:srgbClr val="4FA3FF"/>
          </a:solidFill>
          <a:ln w="12700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1" name="Text 69"/>
          <p:cNvSpPr/>
          <p:nvPr/>
        </p:nvSpPr>
        <p:spPr>
          <a:xfrm>
            <a:off x="3611880" y="58064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ARDA platform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920240" y="5376672"/>
            <a:ext cx="640080" cy="0"/>
          </a:xfrm>
          <a:prstGeom prst="line">
            <a:avLst/>
          </a:prstGeom>
          <a:noFill/>
          <a:ln w="22225">
            <a:solidFill>
              <a:srgbClr val="43A04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001"/>
          </a:p>
        </p:txBody>
      </p:sp>
      <p:sp>
        <p:nvSpPr>
          <p:cNvPr id="73" name="Shape 71"/>
          <p:cNvSpPr/>
          <p:nvPr/>
        </p:nvSpPr>
        <p:spPr>
          <a:xfrm>
            <a:off x="3840480" y="5349240"/>
            <a:ext cx="365760" cy="0"/>
          </a:xfrm>
          <a:prstGeom prst="line">
            <a:avLst/>
          </a:prstGeom>
          <a:noFill/>
          <a:ln w="22225">
            <a:solidFill>
              <a:srgbClr val="43A04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001"/>
          </a:p>
        </p:txBody>
      </p:sp>
      <p:sp>
        <p:nvSpPr>
          <p:cNvPr id="74" name="Text 72"/>
          <p:cNvSpPr/>
          <p:nvPr/>
        </p:nvSpPr>
        <p:spPr>
          <a:xfrm>
            <a:off x="685800" y="612648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your VPC. Data stays put — but you're still on hyperscaler hardware.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263640" y="3977640"/>
            <a:ext cx="5623560" cy="2514600"/>
          </a:xfrm>
          <a:prstGeom prst="rect">
            <a:avLst/>
          </a:prstGeom>
          <a:solidFill>
            <a:srgbClr val="142042"/>
          </a:solidFill>
          <a:ln w="15240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6" name="Shape 74"/>
          <p:cNvSpPr/>
          <p:nvPr/>
        </p:nvSpPr>
        <p:spPr>
          <a:xfrm>
            <a:off x="6446520" y="4142232"/>
            <a:ext cx="329184" cy="329184"/>
          </a:xfrm>
          <a:prstGeom prst="ellipse">
            <a:avLst/>
          </a:prstGeom>
          <a:solidFill>
            <a:srgbClr val="4FA3FF"/>
          </a:solidFill>
          <a:ln w="6350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7" name="Text 75"/>
          <p:cNvSpPr/>
          <p:nvPr/>
        </p:nvSpPr>
        <p:spPr>
          <a:xfrm>
            <a:off x="6446520" y="4142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78" name="Text 76"/>
          <p:cNvSpPr/>
          <p:nvPr/>
        </p:nvSpPr>
        <p:spPr>
          <a:xfrm>
            <a:off x="6858000" y="41422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deployment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9189720" y="414223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· co-lo · sovereign cloud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6492240" y="4663440"/>
            <a:ext cx="5166360" cy="1554480"/>
          </a:xfrm>
          <a:prstGeom prst="rect">
            <a:avLst/>
          </a:prstGeom>
          <a:solidFill>
            <a:srgbClr val="142042">
              <a:alpha val="0"/>
            </a:srgbClr>
          </a:solidFill>
          <a:ln w="15875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81" name="Text 79"/>
          <p:cNvSpPr/>
          <p:nvPr/>
        </p:nvSpPr>
        <p:spPr>
          <a:xfrm>
            <a:off x="6565392" y="44988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rgbClr val="4F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SECURITY BOUNDARY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6766560" y="5120640"/>
            <a:ext cx="1188720" cy="640080"/>
          </a:xfrm>
          <a:prstGeom prst="roundRect">
            <a:avLst>
              <a:gd name="adj" fmla="val 7143"/>
            </a:avLst>
          </a:prstGeom>
          <a:solidFill>
            <a:srgbClr val="1E2952"/>
          </a:solidFill>
          <a:ln w="9525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83" name="Text 81"/>
          <p:cNvSpPr/>
          <p:nvPr/>
        </p:nvSpPr>
        <p:spPr>
          <a:xfrm>
            <a:off x="6812280" y="5148072"/>
            <a:ext cx="10972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812280" y="5472684"/>
            <a:ext cx="10972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8366760" y="5120640"/>
            <a:ext cx="1371600" cy="640080"/>
          </a:xfrm>
          <a:prstGeom prst="roundRect">
            <a:avLst>
              <a:gd name="adj" fmla="val 7143"/>
            </a:avLst>
          </a:prstGeom>
          <a:solidFill>
            <a:srgbClr val="1E2952"/>
          </a:solidFill>
          <a:ln w="9525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86" name="Text 84"/>
          <p:cNvSpPr/>
          <p:nvPr/>
        </p:nvSpPr>
        <p:spPr>
          <a:xfrm>
            <a:off x="8412480" y="5148072"/>
            <a:ext cx="12801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data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8412480" y="5472684"/>
            <a:ext cx="12801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systems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10149840" y="5120640"/>
            <a:ext cx="1371600" cy="640080"/>
          </a:xfrm>
          <a:prstGeom prst="roundRect">
            <a:avLst>
              <a:gd name="adj" fmla="val 7143"/>
            </a:avLst>
          </a:prstGeom>
          <a:solidFill>
            <a:srgbClr val="1E2952"/>
          </a:solidFill>
          <a:ln w="9525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89" name="Text 87"/>
          <p:cNvSpPr/>
          <p:nvPr/>
        </p:nvSpPr>
        <p:spPr>
          <a:xfrm>
            <a:off x="10195560" y="5148072"/>
            <a:ext cx="12801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GPU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10195560" y="5472684"/>
            <a:ext cx="12801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/ co-lo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9966960" y="5852160"/>
            <a:ext cx="1280160" cy="237744"/>
          </a:xfrm>
          <a:prstGeom prst="roundRect">
            <a:avLst>
              <a:gd name="adj" fmla="val 15385"/>
            </a:avLst>
          </a:prstGeom>
          <a:solidFill>
            <a:srgbClr val="4FA3FF"/>
          </a:solidFill>
          <a:ln w="12700">
            <a:solidFill>
              <a:srgbClr val="4FA3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92" name="Text 90"/>
          <p:cNvSpPr/>
          <p:nvPr/>
        </p:nvSpPr>
        <p:spPr>
          <a:xfrm>
            <a:off x="9966960" y="58521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ARDA platform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7955280" y="5440680"/>
            <a:ext cx="411480" cy="0"/>
          </a:xfrm>
          <a:prstGeom prst="line">
            <a:avLst/>
          </a:prstGeom>
          <a:noFill/>
          <a:ln w="22225">
            <a:solidFill>
              <a:srgbClr val="43A04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001"/>
          </a:p>
        </p:txBody>
      </p:sp>
      <p:sp>
        <p:nvSpPr>
          <p:cNvPr id="94" name="Shape 92"/>
          <p:cNvSpPr/>
          <p:nvPr/>
        </p:nvSpPr>
        <p:spPr>
          <a:xfrm>
            <a:off x="9738360" y="5440680"/>
            <a:ext cx="411480" cy="0"/>
          </a:xfrm>
          <a:prstGeom prst="line">
            <a:avLst/>
          </a:prstGeom>
          <a:noFill/>
          <a:ln w="22225">
            <a:solidFill>
              <a:srgbClr val="43A04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001"/>
          </a:p>
        </p:txBody>
      </p:sp>
      <p:sp>
        <p:nvSpPr>
          <p:cNvPr id="95" name="Text 93"/>
          <p:cNvSpPr/>
          <p:nvPr/>
        </p:nvSpPr>
        <p:spPr>
          <a:xfrm>
            <a:off x="6492240" y="612648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context, GPU — all inside the customer boundary. No wall crossings.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4F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WALL 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 crosses it on every query. Option 2 swaps your wall for the hyperscaler's. </a:t>
            </a:r>
            <a:r>
              <a:rPr lang="en-US" sz="1050" b="1" dirty="0">
                <a:solidFill>
                  <a:srgbClr val="4F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3 &amp; 4 keep everything in.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5B72F6-BD60-03F9-65AF-EF5BCFFBC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613569-C6D3-7959-B6DE-EF1E85FC57B1}"/>
              </a:ext>
            </a:extLst>
          </p:cNvPr>
          <p:cNvSpPr txBox="1"/>
          <p:nvPr/>
        </p:nvSpPr>
        <p:spPr>
          <a:xfrm>
            <a:off x="548640" y="2651760"/>
            <a:ext cx="1115568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300" normalizeH="0" baseline="0" noProof="0">
                <a:ln>
                  <a:noFill/>
                </a:ln>
                <a:solidFill>
                  <a:srgbClr val="4FA3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APPENDIX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51D9FC-282C-FAA0-2C28-73715A85C89C}"/>
              </a:ext>
            </a:extLst>
          </p:cNvPr>
          <p:cNvSpPr txBox="1"/>
          <p:nvPr/>
        </p:nvSpPr>
        <p:spPr>
          <a:xfrm>
            <a:off x="548640" y="3063240"/>
            <a:ext cx="11155680" cy="60016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Appendix</a:t>
            </a:r>
            <a:endParaRPr kumimoji="0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4747FC-F50F-9821-3795-C148805CA201}"/>
              </a:ext>
            </a:extLst>
          </p:cNvPr>
          <p:cNvSpPr/>
          <p:nvPr/>
        </p:nvSpPr>
        <p:spPr>
          <a:xfrm>
            <a:off x="548640" y="4572000"/>
            <a:ext cx="731520" cy="36576"/>
          </a:xfrm>
          <a:prstGeom prst="rect">
            <a:avLst/>
          </a:prstGeom>
          <a:solidFill>
            <a:srgbClr val="4F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4919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3440" y="365760"/>
            <a:ext cx="104851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 AI — Who Uses What, and What's at Stake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1158240"/>
            <a:ext cx="10485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user types to use cases, data sensitivity, and security requirements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609600" y="1767840"/>
          <a:ext cx="10972800" cy="490931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0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Type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Use Cases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Touched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Privacy / Sec Level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Tools Today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9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User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drafting, summarisation,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 notes, translation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comms, meeting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content, general docs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LOW–MEDIUM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business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ChatGPT, Copilot (M365),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Gemini, Grammarly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Shadow AI — no visibility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 governance on usage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9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generation, debugging,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refactoring, documentation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code, APIs, infra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configs, internal libraries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MEDIUM–HIGH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 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Copilot, Cursor,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ChatGPT, Claude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egress to third-party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models; IP leakage 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4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querying, report building,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 analysis, dashboards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data, customer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metrics, operational KPIs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Business-sensitive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 + Excel,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 Copilot, Tableau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governed SQL path;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leaves the boundary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4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lookup, claims review,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research, compliance checks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PII, policy docs,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regulated records, 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Regulated / PII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 (unsanctioned),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confluence search, manual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sovereign RAG;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audit trail; no HITL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4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 / 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 Compliance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 reporting, risk modelling,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evidence, strategy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 papers, risk models,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submissions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Fiduciary / regulatory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processes,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AI adoption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tooling — AI entirely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 for these workflows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53440" y="6400800"/>
            <a:ext cx="1048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data sensitivity increases, tooling options collapse — and the gap widens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3440" y="365760"/>
            <a:ext cx="104851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Data Sensitivity Spectrum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1158240"/>
            <a:ext cx="10485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enterprise data is equal — and neither are the AI tools that can touch it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21945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3169920" y="1463040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Examples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5852160" y="1463040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AI Tools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534400" y="1463040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Posture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9600" y="1828800"/>
            <a:ext cx="97536" cy="103632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pPr defTabSz="1219170"/>
            <a:endParaRPr lang="en-001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07136" y="1828800"/>
            <a:ext cx="10875264" cy="10363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defTabSz="1219170"/>
            <a:endParaRPr lang="en-001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53440" y="1950720"/>
            <a:ext cx="20726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/ LOW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169920" y="1926336"/>
            <a:ext cx="24384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67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content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67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web copy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67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research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852160" y="1926336"/>
            <a:ext cx="24384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67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Gemini,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67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Copilot, Claude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534400" y="1926336"/>
            <a:ext cx="28041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AI is fine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9600" y="3048000"/>
            <a:ext cx="97536" cy="103632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pPr defTabSz="1219170"/>
            <a:endParaRPr lang="en-001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07136" y="3048000"/>
            <a:ext cx="10875264" cy="10363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defTabSz="1219170"/>
            <a:endParaRPr lang="en-001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53440" y="3169920"/>
            <a:ext cx="20726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/ MEDIUM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169920" y="3145536"/>
            <a:ext cx="24384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67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comms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67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notes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67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plans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852160" y="3145536"/>
            <a:ext cx="24384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67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Copilot,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67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Workspace AI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534400" y="3145536"/>
            <a:ext cx="28041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SaaS with DLP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09600" y="4267200"/>
            <a:ext cx="97536" cy="1036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pPr defTabSz="1219170"/>
            <a:endParaRPr lang="en-001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07136" y="4267200"/>
            <a:ext cx="10875264" cy="10363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defTabSz="1219170"/>
            <a:endParaRPr lang="en-001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53440" y="4389120"/>
            <a:ext cx="20726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/ HIGH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169920" y="4364736"/>
            <a:ext cx="24384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67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code, financial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67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customer analytics,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67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plans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852160" y="4364736"/>
            <a:ext cx="24384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67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— Copilot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67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data boundary?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67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Often: nothing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534400" y="4364736"/>
            <a:ext cx="28041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Sovereign-located AI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09600" y="5547360"/>
            <a:ext cx="97536" cy="10363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pPr defTabSz="1219170"/>
            <a:endParaRPr lang="en-001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07136" y="5547360"/>
            <a:ext cx="10875264" cy="10363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defTabSz="1219170"/>
            <a:endParaRPr lang="en-001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53440" y="5669280"/>
            <a:ext cx="20726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 / CRITICAL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169920" y="5644896"/>
            <a:ext cx="24384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67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PII, health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67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records, regulated data,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67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material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852160" y="5644896"/>
            <a:ext cx="24384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67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available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67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at enterprise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67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534400" y="5644896"/>
            <a:ext cx="28041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Sovereign-controlled AI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(ARDA's territory)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1704320" y="2011680"/>
            <a:ext cx="0" cy="43891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pPr defTabSz="1219170"/>
            <a:endParaRPr lang="en-001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1338560" y="3535680"/>
            <a:ext cx="8534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0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3440" y="365760"/>
            <a:ext cx="104851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the Tooling Breaks Down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1158240"/>
            <a:ext cx="10485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coverage by use case and data sensitivity — green = covered, amber = partial, red = gap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609600" y="1767840"/>
          <a:ext cx="10972800" cy="4632960"/>
        </p:xfrm>
        <a:graphic>
          <a:graphicData uri="http://schemas.openxmlformats.org/drawingml/2006/table">
            <a:tbl>
              <a:tblPr/>
              <a:tblGrid>
                <a:gridCol w="2682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8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/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60A5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Internal /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60A5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Confidential /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Restricted /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/ general Q&amp;A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ChatGPT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Copilot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Limited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 option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generation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Copilot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Copilot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Self-hosted?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 option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summarisation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SaaS 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Copilot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DLP needed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 option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/ SQL querying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ChatGPT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Copilot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 option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 option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search (RAG)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Basic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Basic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 option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 option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Claims / underwriting assist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 option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 option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evidence &amp; audit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 option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 option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workflows (HITL)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Emerging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 option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 option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 option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9600" y="6217920"/>
            <a:ext cx="10972800" cy="512064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pPr defTabSz="1219170"/>
            <a:endParaRPr lang="en-001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09600" y="6217920"/>
            <a:ext cx="73152" cy="5120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pPr defTabSz="1219170"/>
            <a:endParaRPr lang="en-001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4"/>
          <p:cNvSpPr/>
          <p:nvPr/>
        </p:nvSpPr>
        <p:spPr>
          <a:xfrm>
            <a:off x="914400" y="6217920"/>
            <a:ext cx="10485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ARDA's opportunity: everything in the bottom-right quadrant — high-value use cases on sensitive data with zero tooling today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3440" y="365760"/>
            <a:ext cx="104851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Emerging Enterprise AI Stack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1158240"/>
            <a:ext cx="10485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deployment postures will coexist — the question is who controls the sovereign tier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1767840"/>
            <a:ext cx="3413760" cy="4511040"/>
          </a:xfrm>
          <a:prstGeom prst="rect">
            <a:avLst/>
          </a:prstGeom>
          <a:solidFill>
            <a:srgbClr val="1A2E1A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219170"/>
            <a:endParaRPr lang="en-001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09600" y="1767840"/>
            <a:ext cx="3413760" cy="7315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pPr defTabSz="1219170"/>
            <a:endParaRPr lang="en-001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3440" y="1950720"/>
            <a:ext cx="29260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SaaS AI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53440" y="2340864"/>
            <a:ext cx="2926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853440" y="2743200"/>
            <a:ext cx="292608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 defTabSz="1219170">
              <a:spcAft>
                <a:spcPts val="533"/>
              </a:spcAft>
              <a:buSzPct val="100000"/>
              <a:buFontTx/>
              <a:buChar char="•"/>
            </a:pPr>
            <a:r>
              <a:rPr lang="en-US" sz="1267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Claude / Gemini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•"/>
            </a:pPr>
            <a:r>
              <a:rPr lang="en-US" sz="1267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•"/>
            </a:pPr>
            <a:r>
              <a:rPr lang="en-US" sz="1267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Copilot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•"/>
            </a:pPr>
            <a:r>
              <a:rPr lang="en-US" sz="1267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AI, Grammarly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•"/>
            </a:pPr>
            <a:r>
              <a:rPr lang="en-US" sz="1267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Jasper, Copy.ai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92480" y="4815840"/>
            <a:ext cx="3048000" cy="548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defTabSz="1219170"/>
            <a:endParaRPr lang="en-001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400" y="4840224"/>
            <a:ext cx="28041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productivity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non-sensitive data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53440" y="5547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leaves the boundary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267200" y="1767840"/>
            <a:ext cx="3413760" cy="4511040"/>
          </a:xfrm>
          <a:prstGeom prst="rect">
            <a:avLst/>
          </a:prstGeom>
          <a:solidFill>
            <a:srgbClr val="1A2035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219170"/>
            <a:endParaRPr lang="en-001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267200" y="1767840"/>
            <a:ext cx="3413760" cy="73152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pPr defTabSz="1219170"/>
            <a:endParaRPr lang="en-001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11040" y="1950720"/>
            <a:ext cx="29260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dirty="0">
                <a:solidFill>
                  <a:srgbClr val="60A5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Managed AI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11040" y="2340864"/>
            <a:ext cx="2926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Sovereign-Located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11040" y="2743200"/>
            <a:ext cx="292608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 defTabSz="1219170">
              <a:spcAft>
                <a:spcPts val="533"/>
              </a:spcAft>
              <a:buSzPct val="100000"/>
              <a:buFontTx/>
              <a:buChar char="•"/>
            </a:pPr>
            <a:r>
              <a:rPr lang="en-US" sz="1267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(data boundary)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•"/>
            </a:pPr>
            <a:r>
              <a:rPr lang="en-US" sz="1267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 (in-region)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•"/>
            </a:pPr>
            <a:r>
              <a:rPr lang="en-US" sz="1267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Vertex AI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•"/>
            </a:pPr>
            <a:r>
              <a:rPr lang="en-US" sz="1267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with data residency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•"/>
            </a:pPr>
            <a:r>
              <a:rPr lang="en-US" sz="1267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 (future?)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450080" y="4815840"/>
            <a:ext cx="3048000" cy="548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defTabSz="1219170"/>
            <a:endParaRPr lang="en-001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0" y="4840224"/>
            <a:ext cx="28041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Medium-sensitivity data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vendor trust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11040" y="5547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in-country, vendor controls model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924800" y="1767840"/>
            <a:ext cx="3413760" cy="4511040"/>
          </a:xfrm>
          <a:prstGeom prst="rect">
            <a:avLst/>
          </a:prstGeom>
          <a:solidFill>
            <a:srgbClr val="0F1D3D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219170"/>
            <a:endParaRPr lang="en-001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924800" y="1767840"/>
            <a:ext cx="3413760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pPr defTabSz="1219170"/>
            <a:endParaRPr lang="en-001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168640" y="1950720"/>
            <a:ext cx="29260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Sovereign AI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168640" y="2340864"/>
            <a:ext cx="2926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Sovereign-Controlled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168640" y="2743200"/>
            <a:ext cx="292608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 defTabSz="1219170">
              <a:spcAft>
                <a:spcPts val="533"/>
              </a:spcAft>
              <a:buSzPct val="100000"/>
              <a:buFontTx/>
              <a:buChar char="•"/>
            </a:pPr>
            <a:r>
              <a:rPr lang="en-US" sz="1267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ARDA Platform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•"/>
            </a:pPr>
            <a:r>
              <a:rPr lang="en-US" sz="1267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open source?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•"/>
            </a:pPr>
            <a:r>
              <a:rPr lang="en-US" sz="1267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 (Ollama + Open WebUI)?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spcAft>
                <a:spcPts val="533"/>
              </a:spcAft>
            </a:pPr>
            <a:r>
              <a:rPr lang="en-US" sz="1267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spcAft>
                <a:spcPts val="533"/>
              </a:spcAft>
            </a:pPr>
            <a:r>
              <a:rPr lang="en-US" sz="1267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That's it. The shelf is empty.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107680" y="4815840"/>
            <a:ext cx="3048000" cy="548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pPr defTabSz="1219170"/>
            <a:endParaRPr lang="en-001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229600" y="4840224"/>
            <a:ext cx="28041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/ regulated data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control is mandatory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168640" y="5547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owns everything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09600" y="6156960"/>
            <a:ext cx="10728960" cy="54864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pPr defTabSz="1219170"/>
            <a:endParaRPr lang="en-001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09600" y="6156960"/>
            <a:ext cx="73152" cy="5486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pPr defTabSz="1219170"/>
            <a:endParaRPr lang="en-001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14400" y="61569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sovereign tier has the hardest requirements and the weakest tooling — that's where ARDA wins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2515</Words>
  <Application>Microsoft Macintosh PowerPoint</Application>
  <PresentationFormat>Widescreen</PresentationFormat>
  <Paragraphs>566</Paragraphs>
  <Slides>14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Simon Bowker</cp:lastModifiedBy>
  <cp:revision>3</cp:revision>
  <dcterms:created xsi:type="dcterms:W3CDTF">2026-04-17T01:20:12Z</dcterms:created>
  <dcterms:modified xsi:type="dcterms:W3CDTF">2026-04-19T23:36:59Z</dcterms:modified>
</cp:coreProperties>
</file>