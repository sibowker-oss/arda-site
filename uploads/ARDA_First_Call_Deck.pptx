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Global AI Token Volume (Quadrillions)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</c:v>
                  </c:pt>
                  <c:pt idx="4">
                    <c:v>2030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</c:v>
                </c:pt>
                <c:pt idx="1">
                  <c:v>120</c:v>
                </c:pt>
                <c:pt idx="2">
                  <c:v>250</c:v>
                </c:pt>
                <c:pt idx="3">
                  <c:v>450</c:v>
                </c:pt>
                <c:pt idx="4">
                  <c:v>700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8B0C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2A356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8B0C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C2550"/>
        </a:solidFill>
        <a:ln>
          <a:noFill/>
        </a:ln>
        <a:effectLst/>
      </c:spPr>
    </c:plotArea>
    <c:plotVisOnly val="1"/>
    <c:dispBlanksAs val="span"/>
  </c:chart>
  <c:spPr>
    <a:solidFill>
      <a:srgbClr val="1C255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Classic Cloud AI</c:v>
                </c:pt>
              </c:strCache>
            </c:strRef>
          </c:tx>
          <c:spPr>
            <a:solidFill>
              <a:srgbClr val="FF6B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2121111</c:v>
                </c:pt>
                <c:pt idx="1">
                  <c:v>3794809</c:v>
                </c:pt>
                <c:pt idx="2">
                  <c:v>7090189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ARDA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821904</c:v>
                </c:pt>
                <c:pt idx="1">
                  <c:v>821904</c:v>
                </c:pt>
                <c:pt idx="2">
                  <c:v>821904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B0C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56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8B0C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C2550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A8B0C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C255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131B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320040" cy="3200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31B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320040" cy="3200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31B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0" y="146304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23360" y="14630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ARDA</a:t>
            </a:r>
            <a:endParaRPr lang="en-US" sz="6000" dirty="0"/>
          </a:p>
        </p:txBody>
      </p:sp>
      <p:sp>
        <p:nvSpPr>
          <p:cNvPr id="4" name="Text 1"/>
          <p:cNvSpPr/>
          <p:nvPr/>
        </p:nvSpPr>
        <p:spPr>
          <a:xfrm>
            <a:off x="2926080" y="274320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Call Deck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926080" y="32004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8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Sovereign AI for the Enterprise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7315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AI in Enterprise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Enterprises Aren’t Seeing Value Today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ARDA Solves This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You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Security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AI in Enterprise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554480"/>
          </a:xfrm>
          <a:prstGeom prst="rect">
            <a:avLst/>
          </a:prstGeom>
          <a:solidFill>
            <a:srgbClr val="1C255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12344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Enterprise-Wide Scaling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783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pilots to production across every function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1554480"/>
          </a:xfrm>
          <a:prstGeom prst="rect">
            <a:avLst/>
          </a:prstGeom>
          <a:solidFill>
            <a:srgbClr val="1C2550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303520" y="12344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Autonomous Systems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03520" y="1783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that use 5–30x more tokens than simple chatbots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4023360" cy="1554480"/>
          </a:xfrm>
          <a:prstGeom prst="rect">
            <a:avLst/>
          </a:prstGeom>
          <a:solidFill>
            <a:srgbClr val="1C255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097280" y="30632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&amp; Measurable Value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36118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tied to real ROI, not just experimentation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2926080"/>
            <a:ext cx="4023360" cy="1554480"/>
          </a:xfrm>
          <a:prstGeom prst="rect">
            <a:avLst/>
          </a:prstGeom>
          <a:solidFill>
            <a:srgbClr val="1C2550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303520" y="30632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Governance, Ethics &amp; Security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03520" y="36118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integration as a core requirement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Growth Projection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multiplier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A8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agents use 5–30x more tokens per task than simple chatbots. By 2027–2028 this becomes the dominant workload.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scaling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A8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pilots to production across functions. Every employee + AI agents = exponential token demand.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explosion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A8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lengths 4x and completions 3x since 2023. Longer contexts and chain-of-thought are now standard.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0" y="1005840"/>
          <a:ext cx="42062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572000" y="45262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A8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Gartner, internal projections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Enterprises Aren’t Seeing Value Today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06040" cy="3108960"/>
          </a:xfrm>
          <a:prstGeom prst="rect">
            <a:avLst/>
          </a:prstGeom>
          <a:solidFill>
            <a:srgbClr val="1C2550"/>
          </a:solidFill>
          <a:ln/>
        </p:spPr>
      </p:sp>
      <p:sp>
        <p:nvSpPr>
          <p:cNvPr id="4" name="Shape 2"/>
          <p:cNvSpPr/>
          <p:nvPr/>
        </p:nvSpPr>
        <p:spPr>
          <a:xfrm>
            <a:off x="1325880" y="1417320"/>
            <a:ext cx="822960" cy="8229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24231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 &amp; Security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systems and sensitive data are off-limits to public cloud AI. Security teams block adoption before it starts.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188720"/>
            <a:ext cx="2606040" cy="3108960"/>
          </a:xfrm>
          <a:prstGeom prst="rect">
            <a:avLst/>
          </a:prstGeom>
          <a:solidFill>
            <a:srgbClr val="1C2550"/>
          </a:solidFill>
          <a:ln/>
        </p:spPr>
      </p:sp>
      <p:sp>
        <p:nvSpPr>
          <p:cNvPr id="8" name="Shape 6"/>
          <p:cNvSpPr/>
          <p:nvPr/>
        </p:nvSpPr>
        <p:spPr>
          <a:xfrm>
            <a:off x="4206240" y="1417320"/>
            <a:ext cx="822960" cy="8229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24231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ROI Uncertainty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20440" y="30175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clarity on scalable cost models. Hard to build a robust payback case for board-level investment.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188720"/>
            <a:ext cx="2606040" cy="3108960"/>
          </a:xfrm>
          <a:prstGeom prst="rect">
            <a:avLst/>
          </a:prstGeom>
          <a:solidFill>
            <a:srgbClr val="1C2550"/>
          </a:solidFill>
          <a:ln/>
        </p:spPr>
      </p:sp>
      <p:sp>
        <p:nvSpPr>
          <p:cNvPr id="12" name="Shape 10"/>
          <p:cNvSpPr/>
          <p:nvPr/>
        </p:nvSpPr>
        <p:spPr>
          <a:xfrm>
            <a:off x="7086600" y="1417320"/>
            <a:ext cx="822960" cy="8229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24231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Proliferation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0" y="30175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experiments and board projects that don’t deliver outcomes. Executives are distracted, not enabled.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AI: The Three Barriers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194560"/>
                <a:gridCol w="2194560"/>
                <a:gridCol w="2194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to Right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&amp; Trust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/ ROI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Challenge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8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8B0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 are now democratised — suite of apps available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8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8B0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new trust boundaries. Same security posture &amp; controls.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8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8B0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 infrastructure still needs significant 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85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Opportunity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8B0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Increased adoption through value-driven projects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8B0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critical data leaves the building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8B0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Predictable &amp; scalable costs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50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ARDA’s Answer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8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Sovereign platform linked to existing systems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8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entirely inside your environment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8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weight models + dedicated GPU = fixed costs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85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ARDA Solves This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8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ARDA builds and deploys Sovereign AI systems that run entirely inside your environment, allowing enterprises to unlock AI productivity without changing the enterprise security model.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2606040" cy="2560320"/>
          </a:xfrm>
          <a:prstGeom prst="rect">
            <a:avLst/>
          </a:prstGeom>
          <a:solidFill>
            <a:srgbClr val="1C255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965960"/>
            <a:ext cx="260604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2402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Solution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your existing platforms and security systems. No new trust boundaries. No data egress.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965960"/>
            <a:ext cx="2606040" cy="2560320"/>
          </a:xfrm>
          <a:prstGeom prst="rect">
            <a:avLst/>
          </a:prstGeom>
          <a:solidFill>
            <a:srgbClr val="1C2550"/>
          </a:solidFill>
          <a:ln/>
        </p:spPr>
      </p:sp>
      <p:sp>
        <p:nvSpPr>
          <p:cNvPr id="9" name="Shape 7"/>
          <p:cNvSpPr/>
          <p:nvPr/>
        </p:nvSpPr>
        <p:spPr>
          <a:xfrm>
            <a:off x="3246120" y="1965960"/>
            <a:ext cx="260604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22402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&amp; Predictable Costs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29000" y="278892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weight models on dedicated GPU infrastructure. Costs stay flat as usage grows, unlike API-based AI.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965960"/>
            <a:ext cx="2606040" cy="2560320"/>
          </a:xfrm>
          <a:prstGeom prst="rect">
            <a:avLst/>
          </a:prstGeom>
          <a:solidFill>
            <a:srgbClr val="1C2550"/>
          </a:solidFill>
          <a:ln/>
        </p:spPr>
      </p:sp>
      <p:sp>
        <p:nvSpPr>
          <p:cNvPr id="13" name="Shape 11"/>
          <p:cNvSpPr/>
          <p:nvPr/>
        </p:nvSpPr>
        <p:spPr>
          <a:xfrm>
            <a:off x="6035040" y="1965960"/>
            <a:ext cx="260604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22402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Secure Capability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17920" y="278892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core AI initiatives managed and delivered through one integrated strategy that aligns with your tech roadmap.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Scalable, Enterprise-Grade AI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755648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459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you control</a:t>
            </a:r>
            <a:pPr indent="0" marL="0">
              <a:buNone/>
            </a:pPr>
            <a:r>
              <a:rPr lang="en-US" sz="1700" dirty="0">
                <a:solidFill>
                  <a:srgbClr val="A8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 No data egress, no external training, full auditability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2395728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2860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time to value</a:t>
            </a:r>
            <a:pPr indent="0" marL="0">
              <a:buNone/>
            </a:pPr>
            <a:r>
              <a:rPr lang="en-US" sz="1700" dirty="0">
                <a:solidFill>
                  <a:srgbClr val="A8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 Production-ready AI, not internal R&amp;D experiments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3035808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9260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risk</a:t>
            </a:r>
            <a:pPr indent="0" marL="0">
              <a:buNone/>
            </a:pPr>
            <a:r>
              <a:rPr lang="en-US" sz="1700" dirty="0">
                <a:solidFill>
                  <a:srgbClr val="A8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 Designed for regulated environments from the ground up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3675888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5661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economics at scale</a:t>
            </a:r>
            <a:pPr indent="0" marL="0">
              <a:buNone/>
            </a:pPr>
            <a:r>
              <a:rPr lang="en-US" sz="1700" dirty="0">
                <a:solidFill>
                  <a:srgbClr val="A8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 Costs fall as usage grows, unlike API-based AI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You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Three-year cost comparison: Classic Cloud AI vs. ARDA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8229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 w="19050">
            <a:solidFill>
              <a:srgbClr val="3B82F6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Security Boundary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2560320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20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Plugins (Arda Code)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566160" y="1463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Employee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566160" y="1920240"/>
            <a:ext cx="2560320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920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Client (Arda Core)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1463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0" y="1920240"/>
            <a:ext cx="2103120" cy="548640"/>
          </a:xfrm>
          <a:prstGeom prst="rect">
            <a:avLst/>
          </a:prstGeom>
          <a:solidFill>
            <a:srgbClr val="1E2856"/>
          </a:solidFill>
          <a:ln w="12700">
            <a:solidFill>
              <a:srgbClr val="2A35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9202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&amp; RBAC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371600" y="2743200"/>
            <a:ext cx="6400800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27432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ARDA Platform  –  Arda Core  |  Arda Code  |  Vector Store  |  Logging &amp; API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371600" y="3474720"/>
            <a:ext cx="3017520" cy="502920"/>
          </a:xfrm>
          <a:prstGeom prst="rect">
            <a:avLst/>
          </a:prstGeom>
          <a:solidFill>
            <a:srgbClr val="1E2856"/>
          </a:solidFill>
          <a:ln w="12700">
            <a:solidFill>
              <a:srgbClr val="2A35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34747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GPU-Enabled Server  |  LLM Models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3474720"/>
            <a:ext cx="3017520" cy="502920"/>
          </a:xfrm>
          <a:prstGeom prst="rect">
            <a:avLst/>
          </a:prstGeom>
          <a:solidFill>
            <a:srgbClr val="1E2856"/>
          </a:solidFill>
          <a:ln w="12700">
            <a:solidFill>
              <a:srgbClr val="2A35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34747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Server 2 ... n  (Scale-Out)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160520"/>
            <a:ext cx="2286000" cy="365760"/>
          </a:xfrm>
          <a:prstGeom prst="rect">
            <a:avLst/>
          </a:prstGeom>
          <a:noFill/>
          <a:ln/>
        </p:spPr>
      </p:sp>
      <p:sp>
        <p:nvSpPr>
          <p:cNvPr id="21" name="Text 19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egress  •  No external API calls  •  No training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Secure Your AI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4864" cy="7315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09728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Data Egress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A8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stays within your security boundary. No external API calls. No model training on your data.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54864" cy="7315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9659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Identity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A8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with your existing IdP (Okta, Azure AD, etc.) and RBAC policies. No new trust boundaries.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54864" cy="7315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8346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Ready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A8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Type II and HIPAA certified. Built for regulated environments from day one.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703320"/>
            <a:ext cx="54864" cy="7315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7033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Auditability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A8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logging of all prompts, responses, and model interactions for compliance reporting.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31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A8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Deep-dive technical session with your infrastructure team</a:t>
            </a:r>
            <a:endParaRPr lang="en-US" sz="1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A8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Tailored cost model based on your usage profile</a:t>
            </a:r>
            <a:endParaRPr lang="en-US" sz="1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A8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Proof of concept scoped to a specific use case</a:t>
            </a:r>
            <a:endParaRPr lang="en-US" sz="1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A8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Security review with your CISO / security team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0" y="137160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89120" y="13716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ARDA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2286000" y="25603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A8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2286000" y="3474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ardacomputing.com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ARDA First Call Deck</dc:title>
  <dc:subject>PptxGenJS Presentation</dc:subject>
  <dc:creator>ARDA Computing</dc:creator>
  <cp:lastModifiedBy>ARDA Computing</cp:lastModifiedBy>
  <cp:revision>1</cp:revision>
  <dcterms:created xsi:type="dcterms:W3CDTF">2026-03-31T01:40:19Z</dcterms:created>
  <dcterms:modified xsi:type="dcterms:W3CDTF">2026-03-31T01:40:19Z</dcterms:modified>
</cp:coreProperties>
</file>